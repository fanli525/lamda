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0275213" cy="42803763"/>
  <p:notesSz cx="14211300" cy="20104100"/>
  <p:defaultTextStyle>
    <a:defPPr>
      <a:defRPr lang="zh-CN"/>
    </a:defPPr>
    <a:lvl1pPr marL="0" algn="l" defTabSz="1376680" rtl="0" eaLnBrk="1" latinLnBrk="0" hangingPunct="1">
      <a:defRPr sz="2710" kern="1200">
        <a:solidFill>
          <a:schemeClr val="tx1"/>
        </a:solidFill>
        <a:latin typeface="+mn-lt"/>
        <a:ea typeface="+mn-ea"/>
        <a:cs typeface="+mn-cs"/>
      </a:defRPr>
    </a:lvl1pPr>
    <a:lvl2pPr marL="688340" algn="l" defTabSz="1376680" rtl="0" eaLnBrk="1" latinLnBrk="0" hangingPunct="1">
      <a:defRPr sz="2710" kern="1200">
        <a:solidFill>
          <a:schemeClr val="tx1"/>
        </a:solidFill>
        <a:latin typeface="+mn-lt"/>
        <a:ea typeface="+mn-ea"/>
        <a:cs typeface="+mn-cs"/>
      </a:defRPr>
    </a:lvl2pPr>
    <a:lvl3pPr marL="1376680" algn="l" defTabSz="1376680" rtl="0" eaLnBrk="1" latinLnBrk="0" hangingPunct="1">
      <a:defRPr sz="2710" kern="1200">
        <a:solidFill>
          <a:schemeClr val="tx1"/>
        </a:solidFill>
        <a:latin typeface="+mn-lt"/>
        <a:ea typeface="+mn-ea"/>
        <a:cs typeface="+mn-cs"/>
      </a:defRPr>
    </a:lvl3pPr>
    <a:lvl4pPr marL="2065020" algn="l" defTabSz="1376680" rtl="0" eaLnBrk="1" latinLnBrk="0" hangingPunct="1">
      <a:defRPr sz="2710" kern="1200">
        <a:solidFill>
          <a:schemeClr val="tx1"/>
        </a:solidFill>
        <a:latin typeface="+mn-lt"/>
        <a:ea typeface="+mn-ea"/>
        <a:cs typeface="+mn-cs"/>
      </a:defRPr>
    </a:lvl4pPr>
    <a:lvl5pPr marL="2753360" algn="l" defTabSz="1376680" rtl="0" eaLnBrk="1" latinLnBrk="0" hangingPunct="1">
      <a:defRPr sz="2710" kern="1200">
        <a:solidFill>
          <a:schemeClr val="tx1"/>
        </a:solidFill>
        <a:latin typeface="+mn-lt"/>
        <a:ea typeface="+mn-ea"/>
        <a:cs typeface="+mn-cs"/>
      </a:defRPr>
    </a:lvl5pPr>
    <a:lvl6pPr marL="3441065" algn="l" defTabSz="1376680" rtl="0" eaLnBrk="1" latinLnBrk="0" hangingPunct="1">
      <a:defRPr sz="2710" kern="1200">
        <a:solidFill>
          <a:schemeClr val="tx1"/>
        </a:solidFill>
        <a:latin typeface="+mn-lt"/>
        <a:ea typeface="+mn-ea"/>
        <a:cs typeface="+mn-cs"/>
      </a:defRPr>
    </a:lvl6pPr>
    <a:lvl7pPr marL="4129405" algn="l" defTabSz="1376680" rtl="0" eaLnBrk="1" latinLnBrk="0" hangingPunct="1">
      <a:defRPr sz="2710" kern="1200">
        <a:solidFill>
          <a:schemeClr val="tx1"/>
        </a:solidFill>
        <a:latin typeface="+mn-lt"/>
        <a:ea typeface="+mn-ea"/>
        <a:cs typeface="+mn-cs"/>
      </a:defRPr>
    </a:lvl7pPr>
    <a:lvl8pPr marL="4817745" algn="l" defTabSz="1376680" rtl="0" eaLnBrk="1" latinLnBrk="0" hangingPunct="1">
      <a:defRPr sz="2710" kern="1200">
        <a:solidFill>
          <a:schemeClr val="tx1"/>
        </a:solidFill>
        <a:latin typeface="+mn-lt"/>
        <a:ea typeface="+mn-ea"/>
        <a:cs typeface="+mn-cs"/>
      </a:defRPr>
    </a:lvl8pPr>
    <a:lvl9pPr marL="5506085" algn="l" defTabSz="1376680" rtl="0" eaLnBrk="1" latinLnBrk="0" hangingPunct="1">
      <a:defRPr sz="271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60">
          <p15:clr>
            <a:srgbClr val="A4A3A4"/>
          </p15:clr>
        </p15:guide>
        <p15:guide id="2" pos="460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4FB"/>
    <a:srgbClr val="E5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25" d="100"/>
          <a:sy n="25" d="100"/>
        </p:scale>
        <p:origin x="2418" y="9"/>
      </p:cViewPr>
      <p:guideLst>
        <p:guide orient="horz" pos="6160"/>
        <p:guide pos="4601"/>
      </p:guideLst>
    </p:cSldViewPr>
  </p:slideViewPr>
  <p:notesTextViewPr>
    <p:cViewPr>
      <p:scale>
        <a:sx n="300" d="100"/>
        <a:sy n="300" d="100"/>
      </p:scale>
      <p:origin x="0" y="-84"/>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6157913" cy="10080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8050213" y="0"/>
            <a:ext cx="6157912" cy="1008063"/>
          </a:xfrm>
          <a:prstGeom prst="rect">
            <a:avLst/>
          </a:prstGeom>
        </p:spPr>
        <p:txBody>
          <a:bodyPr vert="horz" lIns="91440" tIns="45720" rIns="91440" bIns="45720" rtlCol="0"/>
          <a:lstStyle>
            <a:lvl1pPr algn="r">
              <a:defRPr sz="1200"/>
            </a:lvl1pPr>
          </a:lstStyle>
          <a:p>
            <a:fld id="{B4877C67-47C2-45D0-BCCD-FFA5C2214509}" type="datetimeFigureOut">
              <a:rPr lang="zh-CN" altLang="en-US" smtClean="0"/>
              <a:t>2025/12/18</a:t>
            </a:fld>
            <a:endParaRPr lang="zh-CN" altLang="en-US"/>
          </a:p>
        </p:txBody>
      </p:sp>
      <p:sp>
        <p:nvSpPr>
          <p:cNvPr id="4" name="幻灯片图像占位符 3"/>
          <p:cNvSpPr>
            <a:spLocks noGrp="1" noRot="1" noChangeAspect="1"/>
          </p:cNvSpPr>
          <p:nvPr>
            <p:ph type="sldImg" idx="2"/>
          </p:nvPr>
        </p:nvSpPr>
        <p:spPr>
          <a:xfrm>
            <a:off x="4705350" y="2513013"/>
            <a:ext cx="4800600" cy="6784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420813" y="9675813"/>
            <a:ext cx="11369675" cy="791527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19096038"/>
            <a:ext cx="6157913" cy="100806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8050213" y="19096038"/>
            <a:ext cx="6157912" cy="1008062"/>
          </a:xfrm>
          <a:prstGeom prst="rect">
            <a:avLst/>
          </a:prstGeom>
        </p:spPr>
        <p:txBody>
          <a:bodyPr vert="horz" lIns="91440" tIns="45720" rIns="91440" bIns="45720" rtlCol="0" anchor="b"/>
          <a:lstStyle>
            <a:lvl1pPr algn="r">
              <a:defRPr sz="1200"/>
            </a:lvl1pPr>
          </a:lstStyle>
          <a:p>
            <a:fld id="{F4411796-4C4B-4484-AC4A-B8AF97BCC1AC}" type="slidenum">
              <a:rPr lang="zh-CN" altLang="en-US" smtClean="0"/>
              <a:t>‹#›</a:t>
            </a:fld>
            <a:endParaRPr lang="zh-CN" altLang="en-US"/>
          </a:p>
        </p:txBody>
      </p:sp>
    </p:spTree>
    <p:extLst>
      <p:ext uri="{BB962C8B-B14F-4D97-AF65-F5344CB8AC3E}">
        <p14:creationId xmlns:p14="http://schemas.microsoft.com/office/powerpoint/2010/main" val="4218638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411796-4C4B-4484-AC4A-B8AF97BCC1AC}" type="slidenum">
              <a:rPr lang="zh-CN" altLang="en-US" smtClean="0"/>
              <a:t>1</a:t>
            </a:fld>
            <a:endParaRPr lang="zh-CN" altLang="en-US"/>
          </a:p>
        </p:txBody>
      </p:sp>
    </p:spTree>
    <p:extLst>
      <p:ext uri="{BB962C8B-B14F-4D97-AF65-F5344CB8AC3E}">
        <p14:creationId xmlns:p14="http://schemas.microsoft.com/office/powerpoint/2010/main" val="1436226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70700" y="13269381"/>
            <a:ext cx="25734601" cy="90293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4541401" y="23970493"/>
            <a:ext cx="21193202" cy="39163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965283" y="1423097"/>
            <a:ext cx="17161810" cy="1358750"/>
          </a:xfrm>
        </p:spPr>
        <p:txBody>
          <a:bodyPr lIns="0" tIns="0" rIns="0" bIns="0"/>
          <a:lstStyle>
            <a:lvl1pPr>
              <a:defRPr sz="8840" b="1" i="0">
                <a:solidFill>
                  <a:srgbClr val="00007F"/>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965283" y="1423097"/>
            <a:ext cx="17161810" cy="1358750"/>
          </a:xfrm>
        </p:spPr>
        <p:txBody>
          <a:bodyPr lIns="0" tIns="0" rIns="0" bIns="0"/>
          <a:lstStyle>
            <a:lvl1pPr>
              <a:defRPr sz="8840" b="1" i="0">
                <a:solidFill>
                  <a:srgbClr val="00007F"/>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1513801" y="9845025"/>
            <a:ext cx="13170059" cy="39163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5592141" y="9845025"/>
            <a:ext cx="13170059" cy="39163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965283" y="1423097"/>
            <a:ext cx="17161810" cy="1358750"/>
          </a:xfrm>
        </p:spPr>
        <p:txBody>
          <a:bodyPr lIns="0" tIns="0" rIns="0" bIns="0"/>
          <a:lstStyle>
            <a:lvl1pPr>
              <a:defRPr sz="8840" b="1" i="0">
                <a:solidFill>
                  <a:srgbClr val="00007F"/>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965283" y="1423097"/>
            <a:ext cx="17161810" cy="902932"/>
          </a:xfrm>
          <a:prstGeom prst="rect">
            <a:avLst/>
          </a:prstGeom>
        </p:spPr>
        <p:txBody>
          <a:bodyPr wrap="square" lIns="0" tIns="0" rIns="0" bIns="0">
            <a:spAutoFit/>
          </a:bodyPr>
          <a:lstStyle>
            <a:lvl1pPr>
              <a:defRPr sz="5875" b="1" i="0">
                <a:solidFill>
                  <a:srgbClr val="00007F"/>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1513800" y="9845025"/>
            <a:ext cx="27248402" cy="39163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293841" y="39808141"/>
            <a:ext cx="9688320" cy="589626"/>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513801" y="39808141"/>
            <a:ext cx="6963481" cy="589626"/>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12/18/2025</a:t>
            </a:fld>
            <a:endParaRPr lang="en-US"/>
          </a:p>
        </p:txBody>
      </p:sp>
      <p:sp>
        <p:nvSpPr>
          <p:cNvPr id="6" name="Holder 6"/>
          <p:cNvSpPr>
            <a:spLocks noGrp="1"/>
          </p:cNvSpPr>
          <p:nvPr>
            <p:ph type="sldNum" sz="quarter" idx="7"/>
          </p:nvPr>
        </p:nvSpPr>
        <p:spPr>
          <a:xfrm>
            <a:off x="21798722" y="39808141"/>
            <a:ext cx="6963481" cy="589626"/>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973455">
        <a:defRPr>
          <a:latin typeface="+mn-lt"/>
          <a:ea typeface="+mn-ea"/>
          <a:cs typeface="+mn-cs"/>
        </a:defRPr>
      </a:lvl2pPr>
      <a:lvl3pPr marL="1948180">
        <a:defRPr>
          <a:latin typeface="+mn-lt"/>
          <a:ea typeface="+mn-ea"/>
          <a:cs typeface="+mn-cs"/>
        </a:defRPr>
      </a:lvl3pPr>
      <a:lvl4pPr marL="2922270">
        <a:defRPr>
          <a:latin typeface="+mn-lt"/>
          <a:ea typeface="+mn-ea"/>
          <a:cs typeface="+mn-cs"/>
        </a:defRPr>
      </a:lvl4pPr>
      <a:lvl5pPr marL="3896360">
        <a:defRPr>
          <a:latin typeface="+mn-lt"/>
          <a:ea typeface="+mn-ea"/>
          <a:cs typeface="+mn-cs"/>
        </a:defRPr>
      </a:lvl5pPr>
      <a:lvl6pPr marL="4870450">
        <a:defRPr>
          <a:latin typeface="+mn-lt"/>
          <a:ea typeface="+mn-ea"/>
          <a:cs typeface="+mn-cs"/>
        </a:defRPr>
      </a:lvl6pPr>
      <a:lvl7pPr marL="5843905">
        <a:defRPr>
          <a:latin typeface="+mn-lt"/>
          <a:ea typeface="+mn-ea"/>
          <a:cs typeface="+mn-cs"/>
        </a:defRPr>
      </a:lvl7pPr>
      <a:lvl8pPr marL="6818630">
        <a:defRPr>
          <a:latin typeface="+mn-lt"/>
          <a:ea typeface="+mn-ea"/>
          <a:cs typeface="+mn-cs"/>
        </a:defRPr>
      </a:lvl8pPr>
      <a:lvl9pPr marL="7792085">
        <a:defRPr>
          <a:latin typeface="+mn-lt"/>
          <a:ea typeface="+mn-ea"/>
          <a:cs typeface="+mn-cs"/>
        </a:defRPr>
      </a:lvl9pPr>
    </p:bodyStyle>
    <p:otherStyle>
      <a:lvl1pPr marL="0">
        <a:defRPr>
          <a:latin typeface="+mn-lt"/>
          <a:ea typeface="+mn-ea"/>
          <a:cs typeface="+mn-cs"/>
        </a:defRPr>
      </a:lvl1pPr>
      <a:lvl2pPr marL="973455">
        <a:defRPr>
          <a:latin typeface="+mn-lt"/>
          <a:ea typeface="+mn-ea"/>
          <a:cs typeface="+mn-cs"/>
        </a:defRPr>
      </a:lvl2pPr>
      <a:lvl3pPr marL="1948180">
        <a:defRPr>
          <a:latin typeface="+mn-lt"/>
          <a:ea typeface="+mn-ea"/>
          <a:cs typeface="+mn-cs"/>
        </a:defRPr>
      </a:lvl3pPr>
      <a:lvl4pPr marL="2922270">
        <a:defRPr>
          <a:latin typeface="+mn-lt"/>
          <a:ea typeface="+mn-ea"/>
          <a:cs typeface="+mn-cs"/>
        </a:defRPr>
      </a:lvl4pPr>
      <a:lvl5pPr marL="3896360">
        <a:defRPr>
          <a:latin typeface="+mn-lt"/>
          <a:ea typeface="+mn-ea"/>
          <a:cs typeface="+mn-cs"/>
        </a:defRPr>
      </a:lvl5pPr>
      <a:lvl6pPr marL="4870450">
        <a:defRPr>
          <a:latin typeface="+mn-lt"/>
          <a:ea typeface="+mn-ea"/>
          <a:cs typeface="+mn-cs"/>
        </a:defRPr>
      </a:lvl6pPr>
      <a:lvl7pPr marL="5843905">
        <a:defRPr>
          <a:latin typeface="+mn-lt"/>
          <a:ea typeface="+mn-ea"/>
          <a:cs typeface="+mn-cs"/>
        </a:defRPr>
      </a:lvl7pPr>
      <a:lvl8pPr marL="6818630">
        <a:defRPr>
          <a:latin typeface="+mn-lt"/>
          <a:ea typeface="+mn-ea"/>
          <a:cs typeface="+mn-cs"/>
        </a:defRPr>
      </a:lvl8pPr>
      <a:lvl9pPr marL="779208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2D3A4D32-FA47-46CB-A778-C21B64460A14}"/>
              </a:ext>
            </a:extLst>
          </p:cNvPr>
          <p:cNvGrpSpPr/>
          <p:nvPr/>
        </p:nvGrpSpPr>
        <p:grpSpPr>
          <a:xfrm>
            <a:off x="25805606" y="38175490"/>
            <a:ext cx="2723647" cy="4562391"/>
            <a:chOff x="26603438" y="38103600"/>
            <a:chExt cx="2723647" cy="4562391"/>
          </a:xfrm>
        </p:grpSpPr>
        <p:pic>
          <p:nvPicPr>
            <p:cNvPr id="8" name="图片 7">
              <a:extLst>
                <a:ext uri="{FF2B5EF4-FFF2-40B4-BE49-F238E27FC236}">
                  <a16:creationId xmlns:a16="http://schemas.microsoft.com/office/drawing/2014/main" id="{9E945B3A-1C4A-4C65-9E78-53E42BE9B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88474" y="38103600"/>
              <a:ext cx="2438611" cy="2438611"/>
            </a:xfrm>
            <a:prstGeom prst="rect">
              <a:avLst/>
            </a:prstGeom>
          </p:spPr>
        </p:pic>
        <p:pic>
          <p:nvPicPr>
            <p:cNvPr id="10" name="图片 9">
              <a:extLst>
                <a:ext uri="{FF2B5EF4-FFF2-40B4-BE49-F238E27FC236}">
                  <a16:creationId xmlns:a16="http://schemas.microsoft.com/office/drawing/2014/main" id="{7A28B0D1-6C7E-4BE3-A8EA-1181D69E21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73779" y="40397991"/>
              <a:ext cx="2268000" cy="2268000"/>
            </a:xfrm>
            <a:prstGeom prst="rect">
              <a:avLst/>
            </a:prstGeom>
          </p:spPr>
        </p:pic>
        <p:sp>
          <p:nvSpPr>
            <p:cNvPr id="38" name="object 12">
              <a:extLst>
                <a:ext uri="{FF2B5EF4-FFF2-40B4-BE49-F238E27FC236}">
                  <a16:creationId xmlns:a16="http://schemas.microsoft.com/office/drawing/2014/main" id="{E8805E8B-E889-4985-A973-0FBBB102E277}"/>
                </a:ext>
              </a:extLst>
            </p:cNvPr>
            <p:cNvSpPr txBox="1"/>
            <p:nvPr/>
          </p:nvSpPr>
          <p:spPr>
            <a:xfrm rot="16200000">
              <a:off x="25975411" y="39160203"/>
              <a:ext cx="1581459" cy="325405"/>
            </a:xfrm>
            <a:prstGeom prst="rect">
              <a:avLst/>
            </a:prstGeom>
          </p:spPr>
          <p:txBody>
            <a:bodyPr vert="eaVert" wrap="square" lIns="0" tIns="24316" rIns="0" bIns="0" rtlCol="0">
              <a:spAutoFit/>
            </a:bodyPr>
            <a:lstStyle>
              <a:defPPr>
                <a:defRPr lang="zh-CN"/>
              </a:defPPr>
              <a:lvl1pPr marL="19050" marR="7620" algn="just">
                <a:lnSpc>
                  <a:spcPct val="103000"/>
                </a:lnSpc>
                <a:spcBef>
                  <a:spcPts val="135"/>
                </a:spcBef>
                <a:defRPr sz="2020" b="1" spc="15">
                  <a:latin typeface="Times New Roman" panose="02020603050405020304"/>
                  <a:cs typeface="Times New Roman" panose="02020603050405020304"/>
                </a:defRPr>
              </a:lvl1pPr>
            </a:lstStyle>
            <a:p>
              <a:r>
                <a:rPr lang="en-US" altLang="zh-CN" dirty="0"/>
                <a:t>PAPER</a:t>
              </a:r>
              <a:endParaRPr dirty="0"/>
            </a:p>
          </p:txBody>
        </p:sp>
        <p:sp>
          <p:nvSpPr>
            <p:cNvPr id="39" name="object 12">
              <a:extLst>
                <a:ext uri="{FF2B5EF4-FFF2-40B4-BE49-F238E27FC236}">
                  <a16:creationId xmlns:a16="http://schemas.microsoft.com/office/drawing/2014/main" id="{D21CED50-528B-453C-B30B-EFF5AF8E9105}"/>
                </a:ext>
              </a:extLst>
            </p:cNvPr>
            <p:cNvSpPr txBox="1"/>
            <p:nvPr/>
          </p:nvSpPr>
          <p:spPr>
            <a:xfrm rot="16200000">
              <a:off x="26125837" y="41369289"/>
              <a:ext cx="1280607" cy="325405"/>
            </a:xfrm>
            <a:prstGeom prst="rect">
              <a:avLst/>
            </a:prstGeom>
          </p:spPr>
          <p:txBody>
            <a:bodyPr vert="eaVert" wrap="square" lIns="0" tIns="24316" rIns="0" bIns="0" rtlCol="0">
              <a:spAutoFit/>
            </a:bodyPr>
            <a:lstStyle/>
            <a:p>
              <a:pPr marL="19050" marR="7620" algn="just">
                <a:lnSpc>
                  <a:spcPct val="103000"/>
                </a:lnSpc>
                <a:spcBef>
                  <a:spcPts val="135"/>
                </a:spcBef>
              </a:pPr>
              <a:r>
                <a:rPr lang="en-US" altLang="zh-CN" sz="2020" b="1" spc="15" dirty="0">
                  <a:latin typeface="Times New Roman" panose="02020603050405020304"/>
                  <a:cs typeface="Times New Roman" panose="02020603050405020304"/>
                </a:rPr>
                <a:t>CODE</a:t>
              </a:r>
              <a:endParaRPr sz="2020" b="1" dirty="0">
                <a:latin typeface="Times New Roman" panose="02020603050405020304"/>
                <a:cs typeface="Times New Roman" panose="02020603050405020304"/>
              </a:endParaRPr>
            </a:p>
          </p:txBody>
        </p:sp>
      </p:grpSp>
      <p:sp>
        <p:nvSpPr>
          <p:cNvPr id="3" name="object 3"/>
          <p:cNvSpPr txBox="1"/>
          <p:nvPr/>
        </p:nvSpPr>
        <p:spPr>
          <a:xfrm>
            <a:off x="1612698" y="490903"/>
            <a:ext cx="27355927" cy="2751769"/>
          </a:xfrm>
          <a:prstGeom prst="rect">
            <a:avLst/>
          </a:prstGeom>
        </p:spPr>
        <p:txBody>
          <a:bodyPr vert="horz" wrap="square" lIns="0" tIns="33772" rIns="0" bIns="0" rtlCol="0">
            <a:spAutoFit/>
          </a:bodyPr>
          <a:lstStyle/>
          <a:p>
            <a:pPr marL="19050" algn="ctr">
              <a:spcBef>
                <a:spcPts val="190"/>
              </a:spcBef>
            </a:pPr>
            <a:r>
              <a:rPr lang="en-US" sz="8830" b="1" spc="8" dirty="0">
                <a:solidFill>
                  <a:srgbClr val="00007F"/>
                </a:solidFill>
                <a:latin typeface="Times New Roman" panose="02020603050405020304"/>
                <a:cs typeface="Times New Roman" panose="02020603050405020304"/>
              </a:rPr>
              <a:t>LAMDA: Two-Phase HPO via Learning Prior from Low-Fidelity Data</a:t>
            </a:r>
            <a:endParaRPr sz="8830" dirty="0">
              <a:latin typeface="Times New Roman" panose="02020603050405020304"/>
              <a:cs typeface="Times New Roman" panose="02020603050405020304"/>
            </a:endParaRPr>
          </a:p>
        </p:txBody>
      </p:sp>
      <p:sp>
        <p:nvSpPr>
          <p:cNvPr id="4" name="object 4"/>
          <p:cNvSpPr txBox="1"/>
          <p:nvPr/>
        </p:nvSpPr>
        <p:spPr>
          <a:xfrm>
            <a:off x="1222948" y="3451654"/>
            <a:ext cx="32069365" cy="3385124"/>
          </a:xfrm>
          <a:prstGeom prst="rect">
            <a:avLst/>
          </a:prstGeom>
        </p:spPr>
        <p:txBody>
          <a:bodyPr vert="horz" wrap="square" lIns="0" tIns="27018" rIns="0" bIns="0" rtlCol="0">
            <a:spAutoFit/>
          </a:bodyPr>
          <a:lstStyle/>
          <a:p>
            <a:pPr marL="57150" marR="3803015" algn="ctr"/>
            <a:r>
              <a:rPr lang="en-US" sz="5105" b="1" spc="8" dirty="0">
                <a:latin typeface="Times New Roman" panose="02020603050405020304"/>
                <a:cs typeface="Times New Roman" panose="02020603050405020304"/>
              </a:rPr>
              <a:t>Fan Li</a:t>
            </a:r>
            <a:r>
              <a:rPr sz="5265" b="1" spc="-169" baseline="30000" dirty="0">
                <a:latin typeface="Times New Roman" panose="02020603050405020304"/>
                <a:cs typeface="Times New Roman" panose="02020603050405020304"/>
              </a:rPr>
              <a:t>1</a:t>
            </a:r>
            <a:r>
              <a:rPr sz="5105" b="1" spc="8" dirty="0">
                <a:latin typeface="Times New Roman" panose="02020603050405020304"/>
                <a:cs typeface="Times New Roman" panose="02020603050405020304"/>
              </a:rPr>
              <a:t> </a:t>
            </a:r>
            <a:r>
              <a:rPr lang="en-US" sz="5105" b="1" spc="8" dirty="0">
                <a:latin typeface="Times New Roman" panose="02020603050405020304"/>
                <a:cs typeface="Times New Roman" panose="02020603050405020304"/>
              </a:rPr>
              <a:t>, </a:t>
            </a:r>
            <a:r>
              <a:rPr lang="en-US" sz="5105" b="1" spc="8" dirty="0" err="1">
                <a:latin typeface="Times New Roman" panose="02020603050405020304"/>
                <a:cs typeface="Times New Roman" panose="02020603050405020304"/>
              </a:rPr>
              <a:t>Shengbo</a:t>
            </a:r>
            <a:r>
              <a:rPr lang="en-US" sz="5105" b="1" spc="8" dirty="0">
                <a:latin typeface="Times New Roman" panose="02020603050405020304"/>
                <a:cs typeface="Times New Roman" panose="02020603050405020304"/>
              </a:rPr>
              <a:t> Wang</a:t>
            </a:r>
            <a:r>
              <a:rPr lang="en-US" sz="5265" b="1" spc="-169" baseline="30000" dirty="0">
                <a:latin typeface="Times New Roman" panose="02020603050405020304"/>
                <a:cs typeface="Times New Roman" panose="02020603050405020304"/>
              </a:rPr>
              <a:t>2</a:t>
            </a:r>
            <a:r>
              <a:rPr lang="en-US" altLang="zh-CN" sz="5265" b="1" spc="-156" baseline="30000" dirty="0">
                <a:latin typeface="Times New Roman" panose="02020603050405020304"/>
                <a:cs typeface="Times New Roman" panose="02020603050405020304"/>
              </a:rPr>
              <a:t> </a:t>
            </a:r>
            <a:r>
              <a:rPr sz="5105" b="1" spc="8" dirty="0">
                <a:latin typeface="Times New Roman" panose="02020603050405020304"/>
                <a:cs typeface="Times New Roman" panose="02020603050405020304"/>
              </a:rPr>
              <a:t>and </a:t>
            </a:r>
            <a:r>
              <a:rPr lang="en-US" sz="5105" b="1" spc="8" dirty="0">
                <a:latin typeface="Times New Roman" panose="02020603050405020304"/>
                <a:cs typeface="Times New Roman" panose="02020603050405020304"/>
              </a:rPr>
              <a:t> </a:t>
            </a:r>
            <a:r>
              <a:rPr lang="en-US" sz="5105" b="1" spc="8" dirty="0" err="1">
                <a:latin typeface="Times New Roman" panose="02020603050405020304"/>
                <a:cs typeface="Times New Roman" panose="02020603050405020304"/>
              </a:rPr>
              <a:t>Ke</a:t>
            </a:r>
            <a:r>
              <a:rPr lang="en-US" sz="5105" b="1" spc="8" dirty="0">
                <a:latin typeface="Times New Roman" panose="02020603050405020304"/>
                <a:cs typeface="Times New Roman" panose="02020603050405020304"/>
              </a:rPr>
              <a:t> Li</a:t>
            </a:r>
            <a:r>
              <a:rPr lang="en-US" sz="5265" b="1" spc="11" baseline="30000" dirty="0">
                <a:latin typeface="Times New Roman" panose="02020603050405020304"/>
                <a:cs typeface="Times New Roman" panose="02020603050405020304"/>
              </a:rPr>
              <a:t>3</a:t>
            </a:r>
            <a:r>
              <a:rPr sz="5265" b="1" spc="11" baseline="30000" dirty="0">
                <a:latin typeface="Times New Roman" panose="02020603050405020304"/>
                <a:cs typeface="Times New Roman" panose="02020603050405020304"/>
              </a:rPr>
              <a:t> </a:t>
            </a:r>
            <a:r>
              <a:rPr sz="5265" b="1" spc="23" baseline="30000" dirty="0">
                <a:latin typeface="Times New Roman" panose="02020603050405020304"/>
                <a:cs typeface="Times New Roman" panose="02020603050405020304"/>
              </a:rPr>
              <a:t> </a:t>
            </a:r>
            <a:endParaRPr lang="en-US" sz="5265" b="1" spc="23" baseline="30000" dirty="0">
              <a:latin typeface="Times New Roman" panose="02020603050405020304"/>
              <a:cs typeface="Times New Roman" panose="02020603050405020304"/>
            </a:endParaRPr>
          </a:p>
          <a:p>
            <a:pPr marL="57150" marR="3803015" algn="ctr"/>
            <a:r>
              <a:rPr sz="5265" spc="23" baseline="30000" dirty="0">
                <a:latin typeface="Times New Roman" panose="02020603050405020304"/>
                <a:cs typeface="Times New Roman" panose="02020603050405020304"/>
              </a:rPr>
              <a:t>1</a:t>
            </a:r>
            <a:r>
              <a:rPr lang="en-US" sz="4400" spc="-15" dirty="0">
                <a:latin typeface="Times New Roman" panose="02020603050405020304"/>
                <a:cs typeface="Times New Roman" panose="02020603050405020304"/>
              </a:rPr>
              <a:t>College of Mechanical and Electrical Engineering, Central South University, Changsha, China</a:t>
            </a:r>
            <a:endParaRPr lang="en-US" sz="5105" spc="-15" dirty="0">
              <a:latin typeface="Times New Roman" panose="02020603050405020304"/>
              <a:cs typeface="Times New Roman" panose="02020603050405020304"/>
            </a:endParaRPr>
          </a:p>
          <a:p>
            <a:pPr marL="57150" marR="3803015" algn="ctr"/>
            <a:r>
              <a:rPr lang="en-US" sz="5265" spc="23" baseline="30000" dirty="0">
                <a:latin typeface="Times New Roman" panose="02020603050405020304"/>
                <a:cs typeface="Times New Roman" panose="02020603050405020304"/>
              </a:rPr>
              <a:t>2</a:t>
            </a:r>
            <a:r>
              <a:rPr lang="en-US" sz="4400" spc="-15" dirty="0">
                <a:latin typeface="Times New Roman" panose="02020603050405020304"/>
                <a:cs typeface="Times New Roman" panose="02020603050405020304"/>
              </a:rPr>
              <a:t>School of Computer Science and Engineering, University of Electronic Science and Technology of China, Chengdu, China</a:t>
            </a:r>
          </a:p>
          <a:p>
            <a:pPr marL="57150" marR="3803015" algn="ctr"/>
            <a:r>
              <a:rPr lang="en-US" sz="5265" spc="23" baseline="30000" dirty="0">
                <a:latin typeface="Times New Roman" panose="02020603050405020304"/>
                <a:cs typeface="Times New Roman" panose="02020603050405020304"/>
              </a:rPr>
              <a:t>3</a:t>
            </a:r>
            <a:r>
              <a:rPr lang="en-US" sz="4400" spc="-15" dirty="0">
                <a:latin typeface="Times New Roman" panose="02020603050405020304"/>
                <a:cs typeface="Times New Roman" panose="02020603050405020304"/>
              </a:rPr>
              <a:t>Department of Computer Science, University of Exeter, UK</a:t>
            </a:r>
          </a:p>
          <a:p>
            <a:pPr marL="57150" marR="3803015" algn="ctr"/>
            <a:r>
              <a:rPr lang="en-US" sz="3515" spc="23" dirty="0">
                <a:latin typeface="Courier New" panose="02070309020205020404"/>
                <a:cs typeface="Courier New" panose="02070309020205020404"/>
              </a:rPr>
              <a:t>fanli0525@csu.edu.cn, shnbo.wang@foxmail.com, k.li@exeter.ac.uk</a:t>
            </a:r>
            <a:endParaRPr sz="3515" dirty="0">
              <a:latin typeface="Courier New" panose="02070309020205020404"/>
              <a:cs typeface="Courier New" panose="02070309020205020404"/>
            </a:endParaRPr>
          </a:p>
        </p:txBody>
      </p:sp>
      <p:sp>
        <p:nvSpPr>
          <p:cNvPr id="7" name="object 7"/>
          <p:cNvSpPr txBox="1"/>
          <p:nvPr/>
        </p:nvSpPr>
        <p:spPr>
          <a:xfrm>
            <a:off x="876828" y="8394556"/>
            <a:ext cx="28547201" cy="5704356"/>
          </a:xfrm>
          <a:prstGeom prst="rect">
            <a:avLst/>
          </a:prstGeom>
        </p:spPr>
        <p:txBody>
          <a:bodyPr vert="horz" wrap="square" lIns="0" tIns="32422" rIns="0" bIns="0" rtlCol="0">
            <a:spAutoFit/>
          </a:bodyPr>
          <a:lstStyle/>
          <a:p>
            <a:pPr marL="590550" marR="7620" indent="-571500" algn="just">
              <a:lnSpc>
                <a:spcPct val="103000"/>
              </a:lnSpc>
              <a:spcBef>
                <a:spcPts val="45"/>
              </a:spcBef>
              <a:buFont typeface="Wingdings" panose="05000000000000000000" pitchFamily="2" charset="2"/>
              <a:buChar char="l"/>
            </a:pPr>
            <a:r>
              <a:rPr lang="en-US" sz="3600" dirty="0">
                <a:latin typeface="Times New Roman" panose="02020603050405020304"/>
                <a:cs typeface="Times New Roman" panose="02020603050405020304"/>
              </a:rPr>
              <a:t>Hyperparameter Optimization (HPO) is crucial in machine learning, aiming to optimize hyperparameters to enhance model performance. Although existing methods that leverage prior knowledge—drawn from either previous experiments or expert insights—can accelerate optimization, acquiring a correct prior for a specific HPO task is non-trivial. In this work, we propose to relieve the reliance on external knowledge by learning a reliable prior </a:t>
            </a:r>
            <a:r>
              <a:rPr lang="en-US" sz="3600" i="1" dirty="0">
                <a:latin typeface="Times New Roman" panose="02020603050405020304"/>
                <a:cs typeface="Times New Roman" panose="02020603050405020304"/>
              </a:rPr>
              <a:t>directly</a:t>
            </a:r>
            <a:r>
              <a:rPr lang="en-US" sz="3600" dirty="0">
                <a:latin typeface="Times New Roman" panose="02020603050405020304"/>
                <a:cs typeface="Times New Roman" panose="02020603050405020304"/>
              </a:rPr>
              <a:t> from low-fidelity (LF) problems. We introduce </a:t>
            </a:r>
            <a:r>
              <a:rPr lang="en-US" sz="3600" dirty="0" err="1">
                <a:latin typeface="Times New Roman" panose="02020603050405020304"/>
                <a:cs typeface="Times New Roman" panose="02020603050405020304"/>
              </a:rPr>
              <a:t>Lamda</a:t>
            </a:r>
            <a:r>
              <a:rPr lang="en-US" sz="3600" dirty="0">
                <a:latin typeface="Times New Roman" panose="02020603050405020304"/>
                <a:cs typeface="Times New Roman" panose="02020603050405020304"/>
              </a:rPr>
              <a:t>, an algorithm-agnostic framework designed to boost any baseline HPO algorithm. Specifically, </a:t>
            </a:r>
            <a:r>
              <a:rPr lang="en-US" sz="3600" dirty="0" err="1">
                <a:latin typeface="Times New Roman" panose="02020603050405020304"/>
                <a:cs typeface="Times New Roman" panose="02020603050405020304"/>
              </a:rPr>
              <a:t>Lamda</a:t>
            </a:r>
            <a:r>
              <a:rPr lang="en-US" sz="3600" dirty="0">
                <a:latin typeface="Times New Roman" panose="02020603050405020304"/>
                <a:cs typeface="Times New Roman" panose="02020603050405020304"/>
              </a:rPr>
              <a:t> operates in two phases: (1) it learns a reliable prior by exploring the LF landscape under limited computational budgets, and (2) it leverages this learned prior to guide the HPO process. We showcase how the </a:t>
            </a:r>
            <a:r>
              <a:rPr lang="en-US" sz="3600" dirty="0" err="1">
                <a:latin typeface="Times New Roman" panose="02020603050405020304"/>
                <a:cs typeface="Times New Roman" panose="02020603050405020304"/>
              </a:rPr>
              <a:t>Lamda</a:t>
            </a:r>
            <a:r>
              <a:rPr lang="en-US" sz="3600" dirty="0">
                <a:latin typeface="Times New Roman" panose="02020603050405020304"/>
                <a:cs typeface="Times New Roman" panose="02020603050405020304"/>
              </a:rPr>
              <a:t> framework can be integrated with various HPO algorithms to boost their performance, and further conduct theoretical analysis towards the integrated Bayesian optimization and bandit-based Hyperband. We conduct experiments on 56 HPO problems spanning diverse domains and model scales. Results show that </a:t>
            </a:r>
            <a:r>
              <a:rPr lang="en-US" sz="3600" dirty="0" err="1">
                <a:latin typeface="Times New Roman" panose="02020603050405020304"/>
                <a:cs typeface="Times New Roman" panose="02020603050405020304"/>
              </a:rPr>
              <a:t>Lamda</a:t>
            </a:r>
            <a:r>
              <a:rPr lang="en-US" sz="3600" dirty="0">
                <a:latin typeface="Times New Roman" panose="02020603050405020304"/>
                <a:cs typeface="Times New Roman" panose="02020603050405020304"/>
              </a:rPr>
              <a:t> consistently enhances its baseline algorithms. Compared to nine state-of-the-art HPO algorithms, our </a:t>
            </a:r>
            <a:r>
              <a:rPr lang="en-US" sz="3600" dirty="0" err="1">
                <a:latin typeface="Times New Roman" panose="02020603050405020304"/>
                <a:cs typeface="Times New Roman" panose="02020603050405020304"/>
              </a:rPr>
              <a:t>Lamda</a:t>
            </a:r>
            <a:r>
              <a:rPr lang="en-US" sz="3600" dirty="0">
                <a:latin typeface="Times New Roman" panose="02020603050405020304"/>
                <a:cs typeface="Times New Roman" panose="02020603050405020304"/>
              </a:rPr>
              <a:t> variant achieves the best performance in 51 out of 56 HPO tasks while it is the second best algorithm in the other 5 cases.</a:t>
            </a:r>
            <a:endParaRPr sz="3600" dirty="0">
              <a:latin typeface="Times New Roman" panose="02020603050405020304"/>
              <a:cs typeface="Times New Roman" panose="02020603050405020304"/>
            </a:endParaRPr>
          </a:p>
        </p:txBody>
      </p:sp>
      <p:sp>
        <p:nvSpPr>
          <p:cNvPr id="12" name="object 12"/>
          <p:cNvSpPr txBox="1"/>
          <p:nvPr/>
        </p:nvSpPr>
        <p:spPr>
          <a:xfrm>
            <a:off x="11490530" y="41931020"/>
            <a:ext cx="14173200" cy="762448"/>
          </a:xfrm>
          <a:prstGeom prst="rect">
            <a:avLst/>
          </a:prstGeom>
        </p:spPr>
        <p:txBody>
          <a:bodyPr vert="horz" wrap="square" lIns="0" tIns="24316" rIns="0" bIns="0" rtlCol="0">
            <a:spAutoFit/>
          </a:bodyPr>
          <a:lstStyle/>
          <a:p>
            <a:pPr marL="19050" marR="7620" algn="ctr">
              <a:lnSpc>
                <a:spcPct val="103000"/>
              </a:lnSpc>
              <a:spcBef>
                <a:spcPts val="135"/>
              </a:spcBef>
            </a:pPr>
            <a:r>
              <a:rPr sz="2400" spc="15" dirty="0">
                <a:latin typeface="Times New Roman" panose="02020603050405020304"/>
                <a:cs typeface="Times New Roman" panose="02020603050405020304"/>
              </a:rPr>
              <a:t>Figure: </a:t>
            </a:r>
            <a:r>
              <a:rPr lang="en-US" sz="2400" spc="15" dirty="0">
                <a:latin typeface="Times New Roman" panose="02020603050405020304"/>
                <a:cs typeface="Times New Roman" panose="02020603050405020304"/>
              </a:rPr>
              <a:t>Comparing average relative ranks of peer algorithms across 33 HPO tasks. </a:t>
            </a:r>
            <a:r>
              <a:rPr lang="en-US" sz="2400" spc="15" dirty="0" err="1">
                <a:latin typeface="Times New Roman" panose="02020603050405020304"/>
                <a:cs typeface="Times New Roman" panose="02020603050405020304"/>
              </a:rPr>
              <a:t>Lamda+BO</a:t>
            </a:r>
            <a:r>
              <a:rPr lang="en-US" sz="2400" spc="15" dirty="0">
                <a:latin typeface="Times New Roman" panose="02020603050405020304"/>
                <a:cs typeface="Times New Roman" panose="02020603050405020304"/>
              </a:rPr>
              <a:t> and </a:t>
            </a:r>
            <a:r>
              <a:rPr lang="en-US" sz="2400" spc="15" dirty="0" err="1">
                <a:latin typeface="Times New Roman" panose="02020603050405020304"/>
                <a:cs typeface="Times New Roman" panose="02020603050405020304"/>
              </a:rPr>
              <a:t>Lamda+MUMBO</a:t>
            </a:r>
            <a:r>
              <a:rPr lang="en-US" sz="2400" spc="15" dirty="0">
                <a:latin typeface="Times New Roman" panose="02020603050405020304"/>
                <a:cs typeface="Times New Roman" panose="02020603050405020304"/>
              </a:rPr>
              <a:t> consistently maintain top positions throughout the evaluations.</a:t>
            </a:r>
            <a:r>
              <a:rPr sz="2400" spc="-339" dirty="0">
                <a:latin typeface="Times New Roman" panose="02020603050405020304"/>
                <a:cs typeface="Times New Roman" panose="02020603050405020304"/>
              </a:rPr>
              <a:t> </a:t>
            </a:r>
            <a:r>
              <a:rPr sz="2400" spc="8" dirty="0">
                <a:latin typeface="Times New Roman" panose="02020603050405020304"/>
                <a:cs typeface="Times New Roman" panose="02020603050405020304"/>
              </a:rPr>
              <a:t>(Figure</a:t>
            </a:r>
            <a:r>
              <a:rPr sz="2400" dirty="0">
                <a:latin typeface="Times New Roman" panose="02020603050405020304"/>
                <a:cs typeface="Times New Roman" panose="02020603050405020304"/>
              </a:rPr>
              <a:t> </a:t>
            </a:r>
            <a:r>
              <a:rPr lang="en-US" sz="2400" spc="8" dirty="0">
                <a:latin typeface="Times New Roman" panose="02020603050405020304"/>
                <a:cs typeface="Times New Roman" panose="02020603050405020304"/>
              </a:rPr>
              <a:t>4</a:t>
            </a:r>
            <a:r>
              <a:rPr sz="2400" spc="8" dirty="0">
                <a:latin typeface="Times New Roman" panose="02020603050405020304"/>
                <a:cs typeface="Times New Roman" panose="02020603050405020304"/>
              </a:rPr>
              <a:t>).</a:t>
            </a:r>
            <a:endParaRPr sz="2400" dirty="0">
              <a:latin typeface="Times New Roman" panose="02020603050405020304"/>
              <a:cs typeface="Times New Roman" panose="02020603050405020304"/>
            </a:endParaRPr>
          </a:p>
        </p:txBody>
      </p:sp>
      <p:sp>
        <p:nvSpPr>
          <p:cNvPr id="54" name="文本框 53">
            <a:extLst>
              <a:ext uri="{FF2B5EF4-FFF2-40B4-BE49-F238E27FC236}">
                <a16:creationId xmlns:a16="http://schemas.microsoft.com/office/drawing/2014/main" id="{9A9EA723-258E-4A6F-89DB-32F03D821F97}"/>
              </a:ext>
            </a:extLst>
          </p:cNvPr>
          <p:cNvSpPr txBox="1"/>
          <p:nvPr/>
        </p:nvSpPr>
        <p:spPr>
          <a:xfrm>
            <a:off x="665607" y="14351698"/>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Proposed Method</a:t>
            </a:r>
          </a:p>
        </p:txBody>
      </p:sp>
      <p:pic>
        <p:nvPicPr>
          <p:cNvPr id="156" name="图片 155">
            <a:extLst>
              <a:ext uri="{FF2B5EF4-FFF2-40B4-BE49-F238E27FC236}">
                <a16:creationId xmlns:a16="http://schemas.microsoft.com/office/drawing/2014/main" id="{06F814C1-AB54-463C-9BEB-6D18115151BC}"/>
              </a:ext>
            </a:extLst>
          </p:cNvPr>
          <p:cNvPicPr>
            <a:picLocks noChangeAspect="1"/>
          </p:cNvPicPr>
          <p:nvPr/>
        </p:nvPicPr>
        <p:blipFill>
          <a:blip r:embed="rId5"/>
          <a:stretch>
            <a:fillRect/>
          </a:stretch>
        </p:blipFill>
        <p:spPr>
          <a:xfrm>
            <a:off x="744266" y="15534481"/>
            <a:ext cx="18201982" cy="8485336"/>
          </a:xfrm>
          <a:prstGeom prst="rect">
            <a:avLst/>
          </a:prstGeom>
        </p:spPr>
      </p:pic>
      <p:sp>
        <p:nvSpPr>
          <p:cNvPr id="157" name="矩形: 圆角 156">
            <a:extLst>
              <a:ext uri="{FF2B5EF4-FFF2-40B4-BE49-F238E27FC236}">
                <a16:creationId xmlns:a16="http://schemas.microsoft.com/office/drawing/2014/main" id="{CB1972BD-D409-4116-9344-FB5964113F80}"/>
              </a:ext>
            </a:extLst>
          </p:cNvPr>
          <p:cNvSpPr/>
          <p:nvPr/>
        </p:nvSpPr>
        <p:spPr>
          <a:xfrm>
            <a:off x="19384666" y="21689452"/>
            <a:ext cx="10039363" cy="6916090"/>
          </a:xfrm>
          <a:prstGeom prst="roundRect">
            <a:avLst>
              <a:gd name="adj" fmla="val 5967"/>
            </a:avLst>
          </a:prstGeom>
          <a:solidFill>
            <a:srgbClr val="EEF4FB"/>
          </a:solidFill>
          <a:ln>
            <a:solidFill>
              <a:srgbClr val="EEF4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8" name="图片 157">
            <a:extLst>
              <a:ext uri="{FF2B5EF4-FFF2-40B4-BE49-F238E27FC236}">
                <a16:creationId xmlns:a16="http://schemas.microsoft.com/office/drawing/2014/main" id="{20F3C226-8419-41E2-BC5B-4DB23BB07F73}"/>
              </a:ext>
            </a:extLst>
          </p:cNvPr>
          <p:cNvPicPr>
            <a:picLocks noChangeAspect="1"/>
          </p:cNvPicPr>
          <p:nvPr/>
        </p:nvPicPr>
        <p:blipFill>
          <a:blip r:embed="rId6"/>
          <a:stretch>
            <a:fillRect/>
          </a:stretch>
        </p:blipFill>
        <p:spPr>
          <a:xfrm>
            <a:off x="20096315" y="23483722"/>
            <a:ext cx="8504084" cy="5080959"/>
          </a:xfrm>
          <a:prstGeom prst="rect">
            <a:avLst/>
          </a:prstGeom>
        </p:spPr>
      </p:pic>
      <mc:AlternateContent xmlns:mc="http://schemas.openxmlformats.org/markup-compatibility/2006">
        <mc:Choice xmlns:a14="http://schemas.microsoft.com/office/drawing/2010/main" Requires="a14">
          <p:sp>
            <p:nvSpPr>
              <p:cNvPr id="159" name="文本框 158">
                <a:extLst>
                  <a:ext uri="{FF2B5EF4-FFF2-40B4-BE49-F238E27FC236}">
                    <a16:creationId xmlns:a16="http://schemas.microsoft.com/office/drawing/2014/main" id="{66CDB54A-849C-4267-9468-E909CD04D8C1}"/>
                  </a:ext>
                </a:extLst>
              </p:cNvPr>
              <p:cNvSpPr txBox="1"/>
              <p:nvPr/>
            </p:nvSpPr>
            <p:spPr>
              <a:xfrm>
                <a:off x="18957928" y="22830571"/>
                <a:ext cx="11004101" cy="400110"/>
              </a:xfrm>
              <a:prstGeom prst="rect">
                <a:avLst/>
              </a:prstGeom>
              <a:noFill/>
            </p:spPr>
            <p:txBody>
              <a:bodyPr wrap="square">
                <a:spAutoFit/>
              </a:bodyPr>
              <a:lstStyle/>
              <a:p>
                <a:pPr>
                  <a:lnSpc>
                    <a:spcPts val="1200"/>
                  </a:lnSpc>
                  <a:spcAft>
                    <a:spcPts val="1200"/>
                  </a:spcAft>
                </a:pPr>
                <a14:m>
                  <m:oMathPara xmlns:m="http://schemas.openxmlformats.org/officeDocument/2006/math">
                    <m:oMathParaPr>
                      <m:jc m:val="centerGroup"/>
                    </m:oMathParaPr>
                    <m:oMath xmlns:m="http://schemas.openxmlformats.org/officeDocument/2006/math">
                      <m:sSub>
                        <m:sSubPr>
                          <m:ctrlPr>
                            <a:rPr lang="zh-CN" altLang="zh-CN" sz="400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40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𝜑</m:t>
                              </m:r>
                            </m:e>
                          </m:acc>
                        </m:e>
                        <m:sub>
                          <m:r>
                            <m:rPr>
                              <m:sty m:val="p"/>
                            </m:rP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pro</m:t>
                          </m:r>
                        </m:sub>
                      </m:sSub>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b="1" i="1">
                          <a:effectLst/>
                          <a:latin typeface="Cambria Math" panose="02040503050406030204" pitchFamily="18" charset="0"/>
                          <a:ea typeface="DengXian" panose="02010600030101010101" pitchFamily="2" charset="-122"/>
                          <a:cs typeface="Times New Roman" panose="02020603050405020304" pitchFamily="18" charset="0"/>
                        </a:rPr>
                        <m:t>𝐱</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1</m:t>
                      </m:r>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𝑤</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𝜑</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b="1" i="1">
                          <a:effectLst/>
                          <a:latin typeface="Cambria Math" panose="02040503050406030204" pitchFamily="18" charset="0"/>
                          <a:ea typeface="DengXian" panose="02010600030101010101" pitchFamily="2" charset="-122"/>
                          <a:cs typeface="Times New Roman" panose="02020603050405020304" pitchFamily="18" charset="0"/>
                        </a:rPr>
                        <m:t>𝐱</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𝑤</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zh-CN" altLang="zh-CN" sz="4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4000" i="1">
                              <a:effectLst/>
                              <a:latin typeface="Cambria Math" panose="02040503050406030204" pitchFamily="18" charset="0"/>
                              <a:ea typeface="DengXian" panose="02010600030101010101" pitchFamily="2" charset="-122"/>
                              <a:cs typeface="Times New Roman" panose="02020603050405020304" pitchFamily="18" charset="0"/>
                            </a:rPr>
                            <m:t>𝜑</m:t>
                          </m:r>
                        </m:e>
                        <m:sub>
                          <m:r>
                            <m:rPr>
                              <m:sty m:val="p"/>
                            </m:rP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pro</m:t>
                          </m:r>
                        </m:sub>
                      </m:sSub>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4000" b="1" i="1">
                          <a:effectLst/>
                          <a:latin typeface="Cambria Math" panose="02040503050406030204" pitchFamily="18" charset="0"/>
                          <a:ea typeface="DengXian" panose="02010600030101010101" pitchFamily="2" charset="-122"/>
                          <a:cs typeface="Times New Roman" panose="02020603050405020304" pitchFamily="18" charset="0"/>
                        </a:rPr>
                        <m:t>𝐱</m:t>
                      </m:r>
                      <m:r>
                        <a:rPr lang="en-US" altLang="zh-CN" sz="4000">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zh-CN" altLang="zh-CN" sz="1100" dirty="0">
                  <a:effectLst/>
                  <a:latin typeface="Georgia" panose="02040502050405020303" pitchFamily="18" charset="0"/>
                  <a:ea typeface="DengXian" panose="02010600030101010101" pitchFamily="2" charset="-122"/>
                  <a:cs typeface="Times New Roman" panose="02020603050405020304" pitchFamily="18" charset="0"/>
                </a:endParaRPr>
              </a:p>
            </p:txBody>
          </p:sp>
        </mc:Choice>
        <mc:Fallback>
          <p:sp>
            <p:nvSpPr>
              <p:cNvPr id="159" name="文本框 158">
                <a:extLst>
                  <a:ext uri="{FF2B5EF4-FFF2-40B4-BE49-F238E27FC236}">
                    <a16:creationId xmlns:a16="http://schemas.microsoft.com/office/drawing/2014/main" id="{66CDB54A-849C-4267-9468-E909CD04D8C1}"/>
                  </a:ext>
                </a:extLst>
              </p:cNvPr>
              <p:cNvSpPr txBox="1">
                <a:spLocks noRot="1" noChangeAspect="1" noMove="1" noResize="1" noEditPoints="1" noAdjustHandles="1" noChangeArrowheads="1" noChangeShapeType="1" noTextEdit="1"/>
              </p:cNvSpPr>
              <p:nvPr/>
            </p:nvSpPr>
            <p:spPr>
              <a:xfrm>
                <a:off x="18957928" y="22830571"/>
                <a:ext cx="11004101" cy="400110"/>
              </a:xfrm>
              <a:prstGeom prst="rect">
                <a:avLst/>
              </a:prstGeom>
              <a:blipFill>
                <a:blip r:embed="rId7"/>
                <a:stretch>
                  <a:fillRect t="-86364" b="-24242"/>
                </a:stretch>
              </a:blipFill>
            </p:spPr>
            <p:txBody>
              <a:bodyPr/>
              <a:lstStyle/>
              <a:p>
                <a:r>
                  <a:rPr lang="zh-CN" altLang="en-US">
                    <a:noFill/>
                  </a:rPr>
                  <a:t> </a:t>
                </a:r>
              </a:p>
            </p:txBody>
          </p:sp>
        </mc:Fallback>
      </mc:AlternateContent>
      <p:sp>
        <p:nvSpPr>
          <p:cNvPr id="160" name="箭头: 右 159">
            <a:extLst>
              <a:ext uri="{FF2B5EF4-FFF2-40B4-BE49-F238E27FC236}">
                <a16:creationId xmlns:a16="http://schemas.microsoft.com/office/drawing/2014/main" id="{F9F812EE-FA25-4264-87A3-0F0793C24D7A}"/>
              </a:ext>
            </a:extLst>
          </p:cNvPr>
          <p:cNvSpPr/>
          <p:nvPr/>
        </p:nvSpPr>
        <p:spPr>
          <a:xfrm>
            <a:off x="18511006" y="21689452"/>
            <a:ext cx="873660" cy="937681"/>
          </a:xfrm>
          <a:prstGeom prst="rightArrow">
            <a:avLst>
              <a:gd name="adj1" fmla="val 37866"/>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文本框 162">
            <a:extLst>
              <a:ext uri="{FF2B5EF4-FFF2-40B4-BE49-F238E27FC236}">
                <a16:creationId xmlns:a16="http://schemas.microsoft.com/office/drawing/2014/main" id="{23D27A47-E4BE-4F83-BBF4-B7C2CFC5D424}"/>
              </a:ext>
            </a:extLst>
          </p:cNvPr>
          <p:cNvSpPr txBox="1"/>
          <p:nvPr/>
        </p:nvSpPr>
        <p:spPr>
          <a:xfrm>
            <a:off x="629451" y="36842994"/>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Results</a:t>
            </a:r>
          </a:p>
        </p:txBody>
      </p:sp>
      <p:pic>
        <p:nvPicPr>
          <p:cNvPr id="165" name="图片 164">
            <a:extLst>
              <a:ext uri="{FF2B5EF4-FFF2-40B4-BE49-F238E27FC236}">
                <a16:creationId xmlns:a16="http://schemas.microsoft.com/office/drawing/2014/main" id="{D566881A-249A-4220-822A-2240B95B0DA7}"/>
              </a:ext>
            </a:extLst>
          </p:cNvPr>
          <p:cNvPicPr>
            <a:picLocks noChangeAspect="1"/>
          </p:cNvPicPr>
          <p:nvPr/>
        </p:nvPicPr>
        <p:blipFill>
          <a:blip r:embed="rId8"/>
          <a:stretch>
            <a:fillRect/>
          </a:stretch>
        </p:blipFill>
        <p:spPr>
          <a:xfrm>
            <a:off x="11403806" y="38419456"/>
            <a:ext cx="13481874" cy="3580419"/>
          </a:xfrm>
          <a:prstGeom prst="rect">
            <a:avLst/>
          </a:prstGeom>
        </p:spPr>
      </p:pic>
      <p:sp>
        <p:nvSpPr>
          <p:cNvPr id="166" name="文本框 165">
            <a:extLst>
              <a:ext uri="{FF2B5EF4-FFF2-40B4-BE49-F238E27FC236}">
                <a16:creationId xmlns:a16="http://schemas.microsoft.com/office/drawing/2014/main" id="{D73D9361-AC98-4C29-92D8-C1A3BBA4C65E}"/>
              </a:ext>
            </a:extLst>
          </p:cNvPr>
          <p:cNvSpPr txBox="1"/>
          <p:nvPr/>
        </p:nvSpPr>
        <p:spPr>
          <a:xfrm>
            <a:off x="665607" y="28915100"/>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Theoretical Analysis </a:t>
            </a:r>
          </a:p>
        </p:txBody>
      </p:sp>
      <p:grpSp>
        <p:nvGrpSpPr>
          <p:cNvPr id="14" name="组合 13">
            <a:extLst>
              <a:ext uri="{FF2B5EF4-FFF2-40B4-BE49-F238E27FC236}">
                <a16:creationId xmlns:a16="http://schemas.microsoft.com/office/drawing/2014/main" id="{DD9A40DF-4362-41C9-9893-652305A3FB2D}"/>
              </a:ext>
            </a:extLst>
          </p:cNvPr>
          <p:cNvGrpSpPr/>
          <p:nvPr/>
        </p:nvGrpSpPr>
        <p:grpSpPr>
          <a:xfrm>
            <a:off x="711986" y="30320798"/>
            <a:ext cx="24865020" cy="649655"/>
            <a:chOff x="1222948" y="30320798"/>
            <a:chExt cx="24865020" cy="649655"/>
          </a:xfrm>
        </p:grpSpPr>
        <p:sp>
          <p:nvSpPr>
            <p:cNvPr id="169" name="文本框 168">
              <a:extLst>
                <a:ext uri="{FF2B5EF4-FFF2-40B4-BE49-F238E27FC236}">
                  <a16:creationId xmlns:a16="http://schemas.microsoft.com/office/drawing/2014/main" id="{DA70DC9C-1885-4E24-BCB5-B229D70A778F}"/>
                </a:ext>
              </a:extLst>
            </p:cNvPr>
            <p:cNvSpPr txBox="1"/>
            <p:nvPr/>
          </p:nvSpPr>
          <p:spPr>
            <a:xfrm>
              <a:off x="1222948" y="30320798"/>
              <a:ext cx="13027587" cy="649655"/>
            </a:xfrm>
            <a:prstGeom prst="rect">
              <a:avLst/>
            </a:prstGeom>
          </p:spPr>
          <p:txBody>
            <a:bodyPr vert="horz" wrap="square" lIns="0" tIns="33772" rIns="0" bIns="0" rtlCol="0">
              <a:spAutoFit/>
            </a:bodyPr>
            <a:lstStyle>
              <a:defPPr>
                <a:defRPr lang="zh-CN"/>
              </a:defPPr>
              <a:lvl1pPr marL="19050">
                <a:spcBef>
                  <a:spcPts val="190"/>
                </a:spcBef>
                <a:defRPr sz="3515" b="1" spc="8">
                  <a:latin typeface="Times New Roman" panose="02020603050405020304"/>
                  <a:cs typeface="Times New Roman" panose="02020603050405020304"/>
                </a:defRPr>
              </a:lvl1pPr>
            </a:lstStyle>
            <a:p>
              <a:pPr marL="590550" indent="-571500">
                <a:buFont typeface="Wingdings" panose="05000000000000000000" pitchFamily="2" charset="2"/>
                <a:buChar char="l"/>
              </a:pPr>
              <a:r>
                <a:rPr lang="en-GB" altLang="zh-CN" sz="4000" dirty="0"/>
                <a:t>Prior-based Bayesian optimization framework</a:t>
              </a:r>
            </a:p>
          </p:txBody>
        </p:sp>
        <p:sp>
          <p:nvSpPr>
            <p:cNvPr id="170" name="文本框 169">
              <a:extLst>
                <a:ext uri="{FF2B5EF4-FFF2-40B4-BE49-F238E27FC236}">
                  <a16:creationId xmlns:a16="http://schemas.microsoft.com/office/drawing/2014/main" id="{BEA716E0-25A0-4B16-B48B-7AEF49AA0076}"/>
                </a:ext>
              </a:extLst>
            </p:cNvPr>
            <p:cNvSpPr txBox="1"/>
            <p:nvPr/>
          </p:nvSpPr>
          <p:spPr>
            <a:xfrm>
              <a:off x="16033772" y="30320798"/>
              <a:ext cx="10054196" cy="649655"/>
            </a:xfrm>
            <a:prstGeom prst="rect">
              <a:avLst/>
            </a:prstGeom>
          </p:spPr>
          <p:txBody>
            <a:bodyPr vert="horz" wrap="square" lIns="0" tIns="33772" rIns="0" bIns="0" rtlCol="0">
              <a:spAutoFit/>
            </a:bodyPr>
            <a:lstStyle>
              <a:defPPr>
                <a:defRPr lang="zh-CN"/>
              </a:defPPr>
              <a:lvl1pPr marL="590550" indent="-571500">
                <a:spcBef>
                  <a:spcPts val="190"/>
                </a:spcBef>
                <a:buFont typeface="Wingdings" panose="05000000000000000000" pitchFamily="2" charset="2"/>
                <a:buChar char="l"/>
                <a:defRPr sz="4000" b="1" spc="8">
                  <a:latin typeface="Times New Roman" panose="02020603050405020304"/>
                  <a:cs typeface="Times New Roman" panose="02020603050405020304"/>
                </a:defRPr>
              </a:lvl1pPr>
            </a:lstStyle>
            <a:p>
              <a:r>
                <a:rPr lang="en-GB" altLang="zh-CN" dirty="0"/>
                <a:t>Bandit-based Hyperband framework</a:t>
              </a:r>
            </a:p>
          </p:txBody>
        </p:sp>
      </p:grpSp>
      <mc:AlternateContent xmlns:mc="http://schemas.openxmlformats.org/markup-compatibility/2006">
        <mc:Choice xmlns:a14="http://schemas.microsoft.com/office/drawing/2010/main" Requires="a14">
          <p:sp>
            <p:nvSpPr>
              <p:cNvPr id="173" name="文本框 3">
                <a:extLst>
                  <a:ext uri="{FF2B5EF4-FFF2-40B4-BE49-F238E27FC236}">
                    <a16:creationId xmlns:a16="http://schemas.microsoft.com/office/drawing/2014/main" id="{5C98EE8B-AC4F-4314-B114-064AF024419F}"/>
                  </a:ext>
                </a:extLst>
              </p:cNvPr>
              <p:cNvSpPr txBox="1"/>
              <p:nvPr/>
            </p:nvSpPr>
            <p:spPr>
              <a:xfrm>
                <a:off x="1222948" y="30926881"/>
                <a:ext cx="13027588" cy="567354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Aft>
                    <a:spcPts val="3000"/>
                  </a:spcAft>
                </a:pPr>
                <a:r>
                  <a:rPr lang="en-US" altLang="zh-CN" sz="3600" b="1" dirty="0">
                    <a:latin typeface="Cambria" panose="02040503050406030204" pitchFamily="18" charset="0"/>
                    <a:ea typeface="MS Mincho" panose="02020609040205080304" pitchFamily="49" charset="-128"/>
                    <a:cs typeface="Times New Roman" panose="02020603050405020304" pitchFamily="18" charset="0"/>
                  </a:rPr>
                  <a:t>Theorem 1. </a:t>
                </a:r>
                <a:r>
                  <a:rPr lang="en-US" altLang="zh-CN" sz="3600" dirty="0">
                    <a:latin typeface="Cambria" panose="02040503050406030204" pitchFamily="18" charset="0"/>
                    <a:ea typeface="MS Mincho" panose="02020609040205080304" pitchFamily="49" charset="-128"/>
                    <a:cs typeface="Times New Roman" panose="02020603050405020304" pitchFamily="18" charset="0"/>
                  </a:rPr>
                  <a:t>Given </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𝒟ₙ, φ̃</a:t>
                </a:r>
                <a:r>
                  <a:rPr lang="en-US" altLang="zh-CN" sz="3600" baseline="-25000" dirty="0">
                    <a:effectLst/>
                    <a:latin typeface="Cambria" panose="02040503050406030204" pitchFamily="18" charset="0"/>
                    <a:ea typeface="MS Mincho" panose="02020609040205080304" pitchFamily="49" charset="-128"/>
                    <a:cs typeface="Times New Roman" panose="02020603050405020304" pitchFamily="18" charset="0"/>
                  </a:rPr>
                  <a:t>pro</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(x), and applying the EI into Eq. (7), assume the GP models are non-degenerated. Let 𝒟 be the collected observations with </a:t>
                </a:r>
                <a14:m>
                  <m:oMath xmlns:m="http://schemas.openxmlformats.org/officeDocument/2006/math">
                    <m:d>
                      <m:dPr>
                        <m:ctrlPr>
                          <a:rPr lang="en-US" altLang="zh-CN" sz="3600" i="1">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altLang="zh-CN" sz="3600" i="1">
                                <a:latin typeface="Cambria Math" panose="02040503050406030204" pitchFamily="18" charset="0"/>
                                <a:ea typeface="MS Mincho" panose="02020609040205080304" pitchFamily="49" charset="-128"/>
                                <a:cs typeface="Times New Roman" panose="02020603050405020304" pitchFamily="18" charset="0"/>
                              </a:rPr>
                            </m:ctrlPr>
                          </m:sSupPr>
                          <m:e>
                            <m:r>
                              <m:rPr>
                                <m:sty m:val="p"/>
                              </m:rPr>
                              <a:rPr lang="en-US" altLang="zh-CN" sz="3600">
                                <a:latin typeface="Cambria Math" panose="02040503050406030204" pitchFamily="18" charset="0"/>
                                <a:ea typeface="MS Mincho" panose="02020609040205080304" pitchFamily="49" charset="-128"/>
                                <a:cs typeface="Times New Roman" panose="02020603050405020304" pitchFamily="18" charset="0"/>
                              </a:rPr>
                              <m:t>x</m:t>
                            </m:r>
                          </m:e>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sSup>
                        <m:r>
                          <a:rPr lang="en-US" altLang="zh-CN" sz="3600" i="1">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600" i="1">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i="1">
                                <a:latin typeface="Cambria Math" panose="02040503050406030204" pitchFamily="18" charset="0"/>
                                <a:ea typeface="MS Mincho" panose="02020609040205080304" pitchFamily="49" charset="-128"/>
                                <a:cs typeface="Times New Roman" panose="02020603050405020304" pitchFamily="18" charset="0"/>
                              </a:rPr>
                              <m:t>𝑓</m:t>
                            </m:r>
                          </m:e>
                          <m:sub>
                            <m:r>
                              <a:rPr lang="en-US" altLang="zh-CN" sz="3600" i="1">
                                <a:latin typeface="Cambria Math" panose="02040503050406030204" pitchFamily="18" charset="0"/>
                                <a:ea typeface="MS Mincho" panose="02020609040205080304" pitchFamily="49" charset="-128"/>
                                <a:cs typeface="Times New Roman" panose="02020603050405020304" pitchFamily="18" charset="0"/>
                              </a:rPr>
                              <m:t>h</m:t>
                            </m:r>
                          </m:sub>
                        </m:sSub>
                        <m:d>
                          <m:dPr>
                            <m:ctrlPr>
                              <a:rPr lang="en-US" altLang="zh-CN" sz="3600" i="1">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altLang="zh-CN" sz="3600" i="1">
                                    <a:latin typeface="Cambria Math" panose="02040503050406030204" pitchFamily="18" charset="0"/>
                                    <a:ea typeface="MS Mincho" panose="02020609040205080304" pitchFamily="49" charset="-128"/>
                                    <a:cs typeface="Times New Roman" panose="02020603050405020304" pitchFamily="18" charset="0"/>
                                  </a:rPr>
                                </m:ctrlPr>
                              </m:sSupPr>
                              <m:e>
                                <m:r>
                                  <m:rPr>
                                    <m:sty m:val="p"/>
                                  </m:rPr>
                                  <a:rPr lang="en-US" altLang="zh-CN" sz="3600">
                                    <a:latin typeface="Cambria Math" panose="02040503050406030204" pitchFamily="18" charset="0"/>
                                    <a:ea typeface="MS Mincho" panose="02020609040205080304" pitchFamily="49" charset="-128"/>
                                    <a:cs typeface="Times New Roman" panose="02020603050405020304" pitchFamily="18" charset="0"/>
                                  </a:rPr>
                                  <m:t>x</m:t>
                                </m:r>
                              </m:e>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sSup>
                          </m:e>
                        </m:d>
                      </m:e>
                    </m:d>
                    <m:r>
                      <a:rPr lang="en-US" altLang="zh-CN" sz="3600" i="1">
                        <a:latin typeface="Cambria Math" panose="02040503050406030204" pitchFamily="18" charset="0"/>
                        <a:ea typeface="MS Mincho" panose="02020609040205080304" pitchFamily="49" charset="-128"/>
                        <a:cs typeface="Times New Roman" panose="02020603050405020304" pitchFamily="18" charset="0"/>
                      </a:rPr>
                      <m:t> </m:t>
                    </m:r>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fixed while </a:t>
                </a:r>
                <a14:m>
                  <m:oMath xmlns:m="http://schemas.openxmlformats.org/officeDocument/2006/math">
                    <m:sSubSup>
                      <m:sSubSupPr>
                        <m:ctrlPr>
                          <a:rPr lang="en-US" altLang="zh-CN" sz="320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d>
                          <m:dPr>
                            <m:begChr m:val="{"/>
                            <m:endChr m:val="}"/>
                            <m:ctrlPr>
                              <a:rPr lang="en-US" altLang="zh-CN" sz="3200" i="1" smtClean="0">
                                <a:effectLst/>
                                <a:latin typeface="Cambria Math" panose="02040503050406030204" pitchFamily="18" charset="0"/>
                                <a:ea typeface="MS Mincho" panose="02020609040205080304" pitchFamily="49" charset="-128"/>
                                <a:cs typeface="Times New Roman" panose="02020603050405020304" pitchFamily="18" charset="0"/>
                              </a:rPr>
                            </m:ctrlPr>
                          </m:dPr>
                          <m:e>
                            <m:d>
                              <m:dPr>
                                <m:ctrlPr>
                                  <a:rPr lang="en-US" altLang="zh-CN" sz="3200" i="1" smtClean="0">
                                    <a:effectLst/>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altLang="zh-CN" sz="32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m:rPr>
                                        <m:sty m:val="p"/>
                                      </m:rPr>
                                      <a:rPr lang="en-US" altLang="zh-CN" sz="3200" b="0" i="0" smtClean="0">
                                        <a:effectLst/>
                                        <a:latin typeface="Cambria Math" panose="02040503050406030204" pitchFamily="18" charset="0"/>
                                        <a:ea typeface="MS Mincho" panose="02020609040205080304" pitchFamily="49" charset="-128"/>
                                        <a:cs typeface="Times New Roman" panose="02020603050405020304" pitchFamily="18" charset="0"/>
                                      </a:rPr>
                                      <m:t>x</m:t>
                                    </m:r>
                                  </m:e>
                                  <m:sup>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𝑖</m:t>
                                    </m:r>
                                  </m:sup>
                                </m:sSup>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𝑓</m:t>
                                    </m:r>
                                  </m:e>
                                  <m:sub>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h</m:t>
                                    </m:r>
                                  </m:sub>
                                </m:sSub>
                                <m:d>
                                  <m:dPr>
                                    <m:ctrlP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altLang="zh-CN" sz="3200" i="1">
                                            <a:latin typeface="Cambria Math" panose="02040503050406030204" pitchFamily="18" charset="0"/>
                                            <a:ea typeface="MS Mincho" panose="02020609040205080304" pitchFamily="49" charset="-128"/>
                                            <a:cs typeface="Times New Roman" panose="02020603050405020304" pitchFamily="18" charset="0"/>
                                          </a:rPr>
                                        </m:ctrlPr>
                                      </m:sSupPr>
                                      <m:e>
                                        <m:r>
                                          <m:rPr>
                                            <m:sty m:val="p"/>
                                          </m:rPr>
                                          <a:rPr lang="en-US" altLang="zh-CN" sz="3200">
                                            <a:latin typeface="Cambria Math" panose="02040503050406030204" pitchFamily="18" charset="0"/>
                                            <a:ea typeface="MS Mincho" panose="02020609040205080304" pitchFamily="49" charset="-128"/>
                                            <a:cs typeface="Times New Roman" panose="02020603050405020304" pitchFamily="18" charset="0"/>
                                          </a:rPr>
                                          <m:t>x</m:t>
                                        </m:r>
                                      </m:e>
                                      <m:sup>
                                        <m:r>
                                          <a:rPr lang="en-US" altLang="zh-CN" sz="3200" i="1">
                                            <a:latin typeface="Cambria Math" panose="02040503050406030204" pitchFamily="18" charset="0"/>
                                            <a:ea typeface="MS Mincho" panose="02020609040205080304" pitchFamily="49" charset="-128"/>
                                            <a:cs typeface="Times New Roman" panose="02020603050405020304" pitchFamily="18" charset="0"/>
                                          </a:rPr>
                                          <m:t>𝑖</m:t>
                                        </m:r>
                                      </m:sup>
                                    </m:sSup>
                                  </m:e>
                                </m:d>
                              </m:e>
                            </m:d>
                          </m:e>
                        </m:d>
                      </m:e>
                      <m:sub>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𝑖</m:t>
                        </m:r>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2</m:t>
                        </m:r>
                      </m:sub>
                      <m:sup>
                        <m:r>
                          <a:rPr lang="en-US" altLang="zh-CN" sz="3200" b="0" i="1" smtClean="0">
                            <a:effectLst/>
                            <a:latin typeface="Cambria Math" panose="02040503050406030204" pitchFamily="18" charset="0"/>
                            <a:ea typeface="MS Mincho" panose="02020609040205080304" pitchFamily="49" charset="-128"/>
                            <a:cs typeface="Times New Roman" panose="02020603050405020304" pitchFamily="18" charset="0"/>
                          </a:rPr>
                          <m:t>𝑛</m:t>
                        </m:r>
                      </m:sup>
                    </m:sSubSup>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are sequentially chosen by:</a:t>
                </a:r>
                <a:endParaRPr lang="zh-CN" altLang="zh-CN" sz="3600" dirty="0">
                  <a:effectLst/>
                  <a:latin typeface="Cambria" panose="02040503050406030204" pitchFamily="18" charset="0"/>
                  <a:ea typeface="MS Mincho" panose="02020609040205080304" pitchFamily="49" charset="-128"/>
                  <a:cs typeface="Times New Roman" panose="02020603050405020304" pitchFamily="18" charset="0"/>
                </a:endParaRPr>
              </a:p>
              <a:p>
                <a:pPr algn="ctr">
                  <a:spcAft>
                    <a:spcPts val="3000"/>
                  </a:spcAft>
                </a:pP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xⁿ⁺¹ = </a:t>
                </a:r>
                <a:r>
                  <a:rPr lang="en-US" altLang="zh-CN" sz="3600" dirty="0" err="1">
                    <a:effectLst/>
                    <a:latin typeface="Cambria" panose="02040503050406030204" pitchFamily="18" charset="0"/>
                    <a:ea typeface="MS Mincho" panose="02020609040205080304" pitchFamily="49" charset="-128"/>
                    <a:cs typeface="Times New Roman" panose="02020603050405020304" pitchFamily="18" charset="0"/>
                  </a:rPr>
                  <a:t>arg</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max φ̃</a:t>
                </a:r>
                <a:r>
                  <a:rPr lang="en-US" altLang="zh-CN" sz="3600" baseline="-25000" dirty="0">
                    <a:effectLst/>
                    <a:latin typeface="Cambria" panose="02040503050406030204" pitchFamily="18" charset="0"/>
                    <a:ea typeface="MS Mincho" panose="02020609040205080304" pitchFamily="49" charset="-128"/>
                    <a:cs typeface="Times New Roman" panose="02020603050405020304" pitchFamily="18" charset="0"/>
                  </a:rPr>
                  <a:t>pro</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(x) · EI(</a:t>
                </a:r>
                <a14:m>
                  <m:oMath xmlns:m="http://schemas.openxmlformats.org/officeDocument/2006/math">
                    <m:acc>
                      <m:accPr>
                        <m:chr m:val="̃"/>
                        <m:ctrlPr>
                          <a:rPr lang="en-US" altLang="zh-CN" sz="3600" i="1" dirty="0" smtClean="0">
                            <a:effectLst/>
                            <a:latin typeface="Cambria Math" panose="02040503050406030204" pitchFamily="18" charset="0"/>
                            <a:ea typeface="MS Mincho" panose="02020609040205080304" pitchFamily="49" charset="-128"/>
                            <a:cs typeface="Times New Roman" panose="02020603050405020304" pitchFamily="18" charset="0"/>
                          </a:rPr>
                        </m:ctrlPr>
                      </m:accPr>
                      <m:e>
                        <m:r>
                          <m:rPr>
                            <m:sty m:val="p"/>
                          </m:rPr>
                          <a:rPr lang="en-US" altLang="zh-CN" sz="3600" i="0" dirty="0" smtClean="0">
                            <a:effectLst/>
                            <a:latin typeface="Cambria Math" panose="02040503050406030204" pitchFamily="18" charset="0"/>
                            <a:ea typeface="MS Mincho" panose="02020609040205080304" pitchFamily="49" charset="-128"/>
                            <a:cs typeface="Times New Roman" panose="02020603050405020304" pitchFamily="18" charset="0"/>
                          </a:rPr>
                          <m:t>x</m:t>
                        </m:r>
                      </m:e>
                    </m:acc>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 𝒟).</a:t>
                </a:r>
                <a:endParaRPr lang="zh-CN" altLang="zh-CN" sz="3600" dirty="0">
                  <a:effectLst/>
                  <a:latin typeface="Cambria" panose="02040503050406030204" pitchFamily="18" charset="0"/>
                  <a:ea typeface="MS Mincho" panose="02020609040205080304" pitchFamily="49" charset="-128"/>
                  <a:cs typeface="Times New Roman" panose="02020603050405020304" pitchFamily="18" charset="0"/>
                </a:endParaRPr>
              </a:p>
              <a:p>
                <a:pPr algn="just">
                  <a:spcAft>
                    <a:spcPts val="3000"/>
                  </a:spcAft>
                </a:pP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Then, as n → ∞, almost surely: the acquisition function converges to zero; and the evaluated best objective </a:t>
                </a:r>
                <a:r>
                  <a:rPr lang="en-US" altLang="zh-CN" sz="3600" dirty="0">
                    <a:effectLst/>
                    <a:ea typeface="MS Mincho" panose="02020609040205080304" pitchFamily="49" charset="-128"/>
                    <a:cs typeface="Times New Roman" panose="02020603050405020304" pitchFamily="18" charset="0"/>
                  </a:rPr>
                  <a:t> </a:t>
                </a:r>
                <a14:m>
                  <m:oMath xmlns:m="http://schemas.openxmlformats.org/officeDocument/2006/math">
                    <m:sSubSup>
                      <m:sSub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𝑓</m:t>
                        </m:r>
                      </m:e>
                      <m:sub>
                        <m:r>
                          <a:rPr lang="zh-CN" altLang="en-US" sz="3600" i="1" smtClean="0">
                            <a:effectLst/>
                            <a:latin typeface="Cambria Math" panose="02040503050406030204" pitchFamily="18" charset="0"/>
                            <a:ea typeface="MS Mincho" panose="02020609040205080304" pitchFamily="49" charset="-128"/>
                            <a:cs typeface="Times New Roman" panose="02020603050405020304" pitchFamily="18" charset="0"/>
                          </a:rPr>
                          <m:t>𝒟</m:t>
                        </m:r>
                      </m:sub>
                      <m:sup>
                        <m:r>
                          <a:rPr lang="en-US" altLang="zh-CN" sz="3600" i="1" smtClean="0">
                            <a:effectLst/>
                            <a:latin typeface="Cambria Math" panose="02040503050406030204" pitchFamily="18" charset="0"/>
                            <a:ea typeface="Cambria Math" panose="02040503050406030204" pitchFamily="18" charset="0"/>
                            <a:cs typeface="Times New Roman" panose="02020603050405020304" pitchFamily="18" charset="0"/>
                          </a:rPr>
                          <m:t>∗</m:t>
                        </m:r>
                      </m:sup>
                    </m:sSubSup>
                    <m:r>
                      <a:rPr lang="en-US" altLang="zh-CN" sz="3600" i="1" smtClean="0">
                        <a:effectLst/>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𝑓</m:t>
                        </m:r>
                      </m:e>
                      <m:sub>
                        <m:r>
                          <m:rPr>
                            <m:sty m:val="p"/>
                          </m:rPr>
                          <a:rPr lang="en-US" altLang="zh-CN" sz="3600" i="1">
                            <a:latin typeface="Cambria Math" panose="02040503050406030204" pitchFamily="18" charset="0"/>
                            <a:ea typeface="MS Mincho" panose="02020609040205080304" pitchFamily="49" charset="-128"/>
                            <a:cs typeface="Times New Roman" panose="02020603050405020304" pitchFamily="18" charset="0"/>
                          </a:rPr>
                          <m:t>h</m:t>
                        </m:r>
                      </m:sub>
                      <m:sup>
                        <m:r>
                          <a:rPr lang="en-US" altLang="zh-CN" sz="3600" i="1" smtClean="0">
                            <a:effectLst/>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where </a:t>
                </a:r>
                <a14:m>
                  <m:oMath xmlns:m="http://schemas.openxmlformats.org/officeDocument/2006/math">
                    <m:sSubSup>
                      <m:sSub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𝑓</m:t>
                        </m:r>
                      </m:e>
                      <m:sub>
                        <m:r>
                          <m:rPr>
                            <m:sty m:val="p"/>
                          </m:rPr>
                          <a:rPr lang="en-US" altLang="zh-CN" sz="3600" i="1">
                            <a:latin typeface="Cambria Math" panose="02040503050406030204" pitchFamily="18" charset="0"/>
                            <a:ea typeface="MS Mincho" panose="02020609040205080304" pitchFamily="49" charset="-128"/>
                            <a:cs typeface="Times New Roman" panose="02020603050405020304" pitchFamily="18" charset="0"/>
                          </a:rPr>
                          <m:t>h</m:t>
                        </m:r>
                      </m:sub>
                      <m:sup>
                        <m:r>
                          <a:rPr lang="en-US" altLang="zh-CN" sz="3600" i="1" smtClean="0">
                            <a:effectLst/>
                            <a:latin typeface="Cambria Math" panose="02040503050406030204" pitchFamily="18" charset="0"/>
                            <a:ea typeface="Cambria Math" panose="02040503050406030204" pitchFamily="18" charset="0"/>
                            <a:cs typeface="Times New Roman" panose="02020603050405020304" pitchFamily="18" charset="0"/>
                          </a:rPr>
                          <m:t>∗</m:t>
                        </m:r>
                      </m:sup>
                    </m:sSubSup>
                    <m:r>
                      <a:rPr lang="en-US" altLang="zh-CN" sz="3600" i="1" smtClean="0">
                        <a:effectLst/>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represents the global optimum of </a:t>
                </a:r>
                <a14:m>
                  <m:oMath xmlns:m="http://schemas.openxmlformats.org/officeDocument/2006/math">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𝑓</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h</m:t>
                        </m:r>
                      </m:sub>
                    </m:sSub>
                    <m:d>
                      <m:d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e>
                    </m:d>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a:t>
                </a:r>
                <a:endParaRPr lang="zh-CN" altLang="zh-CN" sz="3600" dirty="0">
                  <a:effectLst/>
                  <a:latin typeface="Cambria" panose="02040503050406030204" pitchFamily="18" charset="0"/>
                  <a:ea typeface="MS Mincho" panose="02020609040205080304" pitchFamily="49" charset="-128"/>
                  <a:cs typeface="Times New Roman" panose="02020603050405020304" pitchFamily="18" charset="0"/>
                </a:endParaRPr>
              </a:p>
            </p:txBody>
          </p:sp>
        </mc:Choice>
        <mc:Fallback>
          <p:sp>
            <p:nvSpPr>
              <p:cNvPr id="173" name="文本框 3">
                <a:extLst>
                  <a:ext uri="{FF2B5EF4-FFF2-40B4-BE49-F238E27FC236}">
                    <a16:creationId xmlns:a16="http://schemas.microsoft.com/office/drawing/2014/main" id="{5C98EE8B-AC4F-4314-B114-064AF024419F}"/>
                  </a:ext>
                </a:extLst>
              </p:cNvPr>
              <p:cNvSpPr txBox="1">
                <a:spLocks noRot="1" noChangeAspect="1" noMove="1" noResize="1" noEditPoints="1" noAdjustHandles="1" noChangeArrowheads="1" noChangeShapeType="1" noTextEdit="1"/>
              </p:cNvSpPr>
              <p:nvPr/>
            </p:nvSpPr>
            <p:spPr>
              <a:xfrm>
                <a:off x="1222948" y="30926881"/>
                <a:ext cx="13027588" cy="5673541"/>
              </a:xfrm>
              <a:prstGeom prst="rect">
                <a:avLst/>
              </a:prstGeom>
              <a:blipFill>
                <a:blip r:embed="rId9"/>
                <a:stretch>
                  <a:fillRect l="-1451" t="-1611" r="-2153" b="-29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4" name="文本框 3">
                <a:extLst>
                  <a:ext uri="{FF2B5EF4-FFF2-40B4-BE49-F238E27FC236}">
                    <a16:creationId xmlns:a16="http://schemas.microsoft.com/office/drawing/2014/main" id="{CE8931E6-997D-4134-AFC4-BBCA41BE50E9}"/>
                  </a:ext>
                </a:extLst>
              </p:cNvPr>
              <p:cNvSpPr txBox="1"/>
              <p:nvPr/>
            </p:nvSpPr>
            <p:spPr>
              <a:xfrm>
                <a:off x="15474080" y="30926881"/>
                <a:ext cx="13487401" cy="590905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3600" b="1" dirty="0">
                    <a:latin typeface="Cambria" panose="02040503050406030204" pitchFamily="18" charset="0"/>
                    <a:ea typeface="MS Mincho" panose="02020609040205080304" pitchFamily="49" charset="-128"/>
                    <a:cs typeface="Times New Roman" panose="02020603050405020304" pitchFamily="18" charset="0"/>
                  </a:rPr>
                  <a:t>Theorem 2. </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For fixed </a:t>
                </a:r>
                <a:r>
                  <a:rPr lang="en-US" altLang="zh-CN" sz="3600" i="1" dirty="0">
                    <a:effectLst/>
                    <a:latin typeface="Cambria" panose="02040503050406030204" pitchFamily="18" charset="0"/>
                    <a:ea typeface="MS Mincho" panose="02020609040205080304" pitchFamily="49" charset="-128"/>
                    <a:cs typeface="Times New Roman" panose="02020603050405020304" pitchFamily="18" charset="0"/>
                  </a:rPr>
                  <a:t>δ</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 (0,1), let </a:t>
                </a:r>
                <a:r>
                  <a:rPr lang="en-US" altLang="zh-CN" sz="3600" i="1" dirty="0">
                    <a:effectLst/>
                    <a:latin typeface="Cambria" panose="02040503050406030204" pitchFamily="18" charset="0"/>
                    <a:ea typeface="MS Mincho" panose="02020609040205080304" pitchFamily="49" charset="-128"/>
                    <a:cs typeface="Times New Roman" panose="02020603050405020304" pitchFamily="18" charset="0"/>
                  </a:rPr>
                  <a:t>ν</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a:t>
                </a:r>
                <a:r>
                  <a:rPr lang="en-US" altLang="zh-CN" sz="3600" i="1" baseline="-25000" dirty="0">
                    <a:effectLst/>
                    <a:latin typeface="Cambria" panose="02040503050406030204" pitchFamily="18" charset="0"/>
                    <a:ea typeface="MS Mincho" panose="02020609040205080304" pitchFamily="49" charset="-128"/>
                    <a:cs typeface="Times New Roman" panose="02020603050405020304" pitchFamily="18" charset="0"/>
                  </a:rPr>
                  <a:t>B</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be the empirically best-performing arm output from successive halving of round </a:t>
                </a:r>
                <a:r>
                  <a:rPr lang="en-US" altLang="zh-CN" sz="3600" i="1" dirty="0">
                    <a:effectLst/>
                    <a:latin typeface="Cambria" panose="02040503050406030204" pitchFamily="18" charset="0"/>
                    <a:ea typeface="MS Mincho" panose="02020609040205080304" pitchFamily="49" charset="-128"/>
                    <a:cs typeface="Times New Roman" panose="02020603050405020304" pitchFamily="18" charset="0"/>
                  </a:rPr>
                  <a:t>k</a:t>
                </a:r>
                <a:r>
                  <a:rPr lang="en-US" altLang="zh-CN" sz="3600" i="1" baseline="-25000" dirty="0">
                    <a:latin typeface="Cambria" panose="02040503050406030204" pitchFamily="18" charset="0"/>
                    <a:ea typeface="MS Mincho" panose="02020609040205080304" pitchFamily="49" charset="-128"/>
                    <a:cs typeface="Times New Roman" panose="02020603050405020304" pitchFamily="18" charset="0"/>
                  </a:rPr>
                  <a:t>B</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 log₂(</a:t>
                </a:r>
                <a:r>
                  <a:rPr lang="en-US" altLang="zh-CN" sz="3600" i="1" dirty="0">
                    <a:effectLst/>
                    <a:latin typeface="Cambria" panose="02040503050406030204" pitchFamily="18" charset="0"/>
                    <a:ea typeface="MS Mincho" panose="02020609040205080304" pitchFamily="49" charset="-128"/>
                    <a:cs typeface="Times New Roman" panose="02020603050405020304" pitchFamily="18" charset="0"/>
                  </a:rPr>
                  <a:t>B</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of the outer loop, and let </a:t>
                </a:r>
                <a:r>
                  <a:rPr lang="en-US" altLang="zh-CN" sz="3600" i="1" dirty="0" err="1">
                    <a:effectLst/>
                    <a:latin typeface="Cambria" panose="02040503050406030204" pitchFamily="18" charset="0"/>
                    <a:ea typeface="MS Mincho" panose="02020609040205080304" pitchFamily="49" charset="-128"/>
                    <a:cs typeface="Times New Roman" panose="02020603050405020304" pitchFamily="18" charset="0"/>
                  </a:rPr>
                  <a:t>s</a:t>
                </a:r>
                <a:r>
                  <a:rPr lang="en-US" altLang="zh-CN" sz="3600" i="1" baseline="-25000" dirty="0" err="1">
                    <a:latin typeface="Cambria" panose="02040503050406030204" pitchFamily="18" charset="0"/>
                    <a:ea typeface="MS Mincho" panose="02020609040205080304" pitchFamily="49" charset="-128"/>
                    <a:cs typeface="Times New Roman" panose="02020603050405020304" pitchFamily="18" charset="0"/>
                  </a:rPr>
                  <a:t>B</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&lt; </a:t>
                </a:r>
                <a:r>
                  <a:rPr lang="en-US" altLang="zh-CN" sz="3600" i="1" dirty="0">
                    <a:effectLst/>
                    <a:latin typeface="Cambria" panose="02040503050406030204" pitchFamily="18" charset="0"/>
                    <a:ea typeface="MS Mincho" panose="02020609040205080304" pitchFamily="49" charset="-128"/>
                    <a:cs typeface="Times New Roman" panose="02020603050405020304" pitchFamily="18" charset="0"/>
                  </a:rPr>
                  <a:t>k</a:t>
                </a:r>
                <a:r>
                  <a:rPr lang="en-US" altLang="zh-CN" sz="3600" i="1" baseline="-25000" dirty="0">
                    <a:latin typeface="Cambria" panose="02040503050406030204" pitchFamily="18" charset="0"/>
                    <a:ea typeface="MS Mincho" panose="02020609040205080304" pitchFamily="49" charset="-128"/>
                    <a:cs typeface="Times New Roman" panose="02020603050405020304" pitchFamily="18" charset="0"/>
                  </a:rPr>
                  <a:t>B</a:t>
                </a:r>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Then, there is:</a:t>
                </a:r>
              </a:p>
              <a:p>
                <a:pPr algn="just"/>
                <a14:m>
                  <m:oMathPara xmlns:m="http://schemas.openxmlformats.org/officeDocument/2006/math">
                    <m:oMathParaPr>
                      <m:jc m:val="centerGroup"/>
                    </m:oMathParaPr>
                    <m:oMath xmlns:m="http://schemas.openxmlformats.org/officeDocument/2006/math">
                      <m:sSub>
                        <m:sSubPr>
                          <m:ctrlP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𝑣</m:t>
                              </m:r>
                            </m:e>
                          </m:acc>
                        </m:e>
                        <m: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𝐵</m:t>
                          </m:r>
                        </m:sub>
                      </m:s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𝑣</m:t>
                          </m:r>
                        </m:e>
                        <m: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sub>
                      </m:s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3</m:t>
                      </m:r>
                      <m:d>
                        <m:d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dPr>
                        <m:e>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𝐹</m:t>
                              </m:r>
                            </m:e>
                            <m: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1</m:t>
                              </m:r>
                            </m:sup>
                          </m:sSup>
                          <m:d>
                            <m:d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dPr>
                            <m:e>
                              <m:f>
                                <m:f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fPr>
                                <m:num>
                                  <m:func>
                                    <m:func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funcPr>
                                    <m:fName>
                                      <m:r>
                                        <m:rPr>
                                          <m:sty m:val="p"/>
                                        </m:rPr>
                                        <a:rPr lang="en-US" altLang="zh-CN" sz="3600" i="0" smtClean="0">
                                          <a:effectLst/>
                                          <a:latin typeface="Cambria Math" panose="02040503050406030204" pitchFamily="18" charset="0"/>
                                          <a:ea typeface="MS Mincho" panose="02020609040205080304" pitchFamily="49" charset="-128"/>
                                          <a:cs typeface="Times New Roman" panose="02020603050405020304" pitchFamily="18" charset="0"/>
                                        </a:rPr>
                                        <m:t>log</m:t>
                                      </m:r>
                                    </m:fName>
                                    <m:e>
                                      <m:d>
                                        <m:d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d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4</m:t>
                                          </m:r>
                                          <m:sSubSup>
                                            <m:sSubSup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3</m:t>
                                              </m:r>
                                            </m:sup>
                                          </m:sSub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zh-CN" altLang="en-US" sz="3600" b="0" i="1" smtClean="0">
                                              <a:effectLst/>
                                              <a:latin typeface="Cambria Math" panose="02040503050406030204" pitchFamily="18" charset="0"/>
                                              <a:ea typeface="MS Mincho" panose="02020609040205080304" pitchFamily="49" charset="-128"/>
                                              <a:cs typeface="Times New Roman" panose="02020603050405020304" pitchFamily="18" charset="0"/>
                                            </a:rPr>
                                            <m:t>𝛿</m:t>
                                          </m:r>
                                        </m:e>
                                      </m:d>
                                    </m:e>
                                  </m:func>
                                </m:num>
                                <m:den>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e>
                                    <m:sup>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𝑠</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sup>
                                  </m:sSup>
                                </m:den>
                              </m:f>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𝑣</m:t>
                                  </m:r>
                                </m:e>
                                <m: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sub>
                              </m:sSub>
                            </m:e>
                          </m:d>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zh-CN" altLang="en-US" sz="3600" b="0" i="1" smtClean="0">
                              <a:effectLst/>
                              <a:latin typeface="Cambria Math" panose="02040503050406030204" pitchFamily="18" charset="0"/>
                              <a:ea typeface="MS Mincho" panose="02020609040205080304" pitchFamily="49" charset="-128"/>
                              <a:cs typeface="Times New Roman" panose="02020603050405020304" pitchFamily="18" charset="0"/>
                            </a:rPr>
                            <m:t>𝛾</m:t>
                          </m:r>
                          <m:d>
                            <m:d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f>
                                <m:f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fPr>
                                <m:num>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e>
                                    <m:sup>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1</m:t>
                                          </m:r>
                                        </m:sub>
                                      </m:sSub>
                                    </m:sup>
                                  </m:sSup>
                                </m:num>
                                <m:den>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den>
                              </m:f>
                            </m:e>
                          </m:d>
                        </m:e>
                      </m:d>
                    </m:oMath>
                  </m:oMathPara>
                </a14:m>
                <a:endParaRPr lang="zh-CN" altLang="zh-CN" sz="3600" dirty="0">
                  <a:effectLst/>
                  <a:latin typeface="Cambria" panose="02040503050406030204" pitchFamily="18" charset="0"/>
                  <a:ea typeface="MS Mincho" panose="02020609040205080304" pitchFamily="49" charset="-128"/>
                  <a:cs typeface="Times New Roman" panose="02020603050405020304" pitchFamily="18" charset="0"/>
                </a:endParaRPr>
              </a:p>
              <a:p>
                <a:pPr algn="just"/>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where </a:t>
                </a:r>
                <a14:m>
                  <m:oMath xmlns:m="http://schemas.openxmlformats.org/officeDocument/2006/math">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𝑠</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 </m:t>
                    </m:r>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satisfies </a:t>
                </a:r>
                <a14:m>
                  <m:oMath xmlns:m="http://schemas.openxmlformats.org/officeDocument/2006/math">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e>
                      <m:sup>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sup>
                    </m:s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poly</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4</m:t>
                    </m:r>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𝑠</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H</m:t>
                    </m:r>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F</m:t>
                    </m:r>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l-GR" altLang="zh-CN" sz="3600">
                        <a:latin typeface="Cambria Math" panose="02040503050406030204" pitchFamily="18" charset="0"/>
                        <a:ea typeface="MS Mincho" panose="02020609040205080304" pitchFamily="49" charset="-128"/>
                        <a:cs typeface="Times New Roman" panose="02020603050405020304" pitchFamily="18" charset="0"/>
                      </a:rPr>
                      <m:t>γ</m:t>
                    </m:r>
                    <m:r>
                      <a:rPr lang="en-US" altLang="zh-CN" sz="3600" b="0" i="0" smtClean="0">
                        <a:latin typeface="Cambria Math" panose="02040503050406030204" pitchFamily="18" charset="0"/>
                        <a:ea typeface="MS Mincho" panose="02020609040205080304" pitchFamily="49" charset="-128"/>
                        <a:cs typeface="Times New Roman" panose="02020603050405020304" pitchFamily="18" charset="0"/>
                      </a:rPr>
                      <m:t>,</m:t>
                    </m:r>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e>
                      <m:sup>
                        <m:sSub>
                          <m:sSub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𝑠</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Sub>
                      </m:sup>
                    </m:sSup>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sSubSup>
                      <m:sSubSup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𝑘</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𝐵</m:t>
                        </m:r>
                      </m:sub>
                      <m: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3</m:t>
                        </m:r>
                      </m:sup>
                    </m:sSub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l-GR" altLang="zh-CN" sz="3600" smtClean="0">
                        <a:latin typeface="Cambria Math" panose="02040503050406030204" pitchFamily="18" charset="0"/>
                        <a:ea typeface="MS Mincho" panose="02020609040205080304" pitchFamily="49" charset="-128"/>
                        <a:cs typeface="Times New Roman" panose="02020603050405020304" pitchFamily="18" charset="0"/>
                      </a:rPr>
                      <m:t>γ</m:t>
                    </m:r>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oMath>
                </a14:m>
                <a:r>
                  <a:rPr lang="en-US" altLang="zh-CN" sz="3600" dirty="0">
                    <a:effectLst/>
                    <a:latin typeface="Cambria" panose="02040503050406030204" pitchFamily="18" charset="0"/>
                    <a:ea typeface="MS Mincho" panose="02020609040205080304" pitchFamily="49" charset="-128"/>
                    <a:cs typeface="Times New Roman" panose="02020603050405020304" pitchFamily="18" charset="0"/>
                  </a:rPr>
                  <a:t>, with  </a:t>
                </a:r>
                <a14:m>
                  <m:oMath xmlns:m="http://schemas.openxmlformats.org/officeDocument/2006/math">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H</m:t>
                    </m:r>
                    <m:d>
                      <m:d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F</m:t>
                        </m:r>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l-GR" altLang="zh-CN" sz="3600">
                            <a:latin typeface="Cambria Math" panose="02040503050406030204" pitchFamily="18" charset="0"/>
                            <a:ea typeface="MS Mincho" panose="02020609040205080304" pitchFamily="49" charset="-128"/>
                            <a:cs typeface="Times New Roman" panose="02020603050405020304" pitchFamily="18" charset="0"/>
                          </a:rPr>
                          <m:t>γ</m:t>
                        </m:r>
                        <m:r>
                          <a:rPr lang="en-US" altLang="zh-CN" sz="3600" b="0" i="0" smtClean="0">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t>𝑛</m:t>
                        </m:r>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r>
                          <m:rPr>
                            <m:sty m:val="p"/>
                          </m:rPr>
                          <a:rPr lang="el-GR"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δ</m:t>
                        </m:r>
                      </m:e>
                    </m:d>
                    <m: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m:t>
                    </m:r>
                    <m:nary>
                      <m:nary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naryPr>
                      <m:sub>
                        <m:sSub>
                          <m:sSub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𝑝</m:t>
                            </m:r>
                          </m:e>
                          <m:sub>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𝑛</m:t>
                            </m:r>
                          </m:sub>
                        </m:sSub>
                      </m:sub>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e>
                        <m:sSup>
                          <m:sSup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sSupPr>
                          <m:e>
                            <m:r>
                              <a:rPr lang="zh-CN" altLang="en-US" sz="3600" i="1" smtClean="0">
                                <a:latin typeface="Cambria Math" panose="02040503050406030204" pitchFamily="18" charset="0"/>
                                <a:ea typeface="MS Mincho" panose="02020609040205080304" pitchFamily="49" charset="-128"/>
                                <a:cs typeface="Times New Roman" panose="02020603050405020304" pitchFamily="18" charset="0"/>
                              </a:rPr>
                              <m:t>𝛾</m:t>
                            </m:r>
                          </m:e>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sSup>
                        <m:d>
                          <m:d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dPr>
                          <m:e>
                            <m:f>
                              <m:f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fPr>
                              <m:num>
                                <m:sSup>
                                  <m:sSup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𝐹</m:t>
                                    </m:r>
                                  </m:e>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sSup>
                                <m:d>
                                  <m:dPr>
                                    <m:ctrlPr>
                                      <a:rPr lang="en-US" altLang="zh-CN" sz="3600" i="1" smtClean="0">
                                        <a:latin typeface="Cambria Math" panose="02040503050406030204" pitchFamily="18" charset="0"/>
                                        <a:ea typeface="MS Mincho" panose="02020609040205080304" pitchFamily="49" charset="-128"/>
                                        <a:cs typeface="Times New Roman" panose="02020603050405020304" pitchFamily="18" charset="0"/>
                                      </a:rPr>
                                    </m:ctrlPr>
                                  </m:dPr>
                                  <m:e>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𝑡</m:t>
                                    </m:r>
                                  </m:e>
                                </m:d>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𝑣</m:t>
                                    </m:r>
                                  </m:e>
                                  <m: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sub>
                                </m:sSub>
                              </m:num>
                              <m:den>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4</m:t>
                                </m:r>
                              </m:den>
                            </m:f>
                          </m:e>
                        </m:d>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𝑑𝑡</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f>
                          <m:fPr>
                            <m:ctrlP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ctrlPr>
                          </m:fPr>
                          <m:num>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10</m:t>
                            </m:r>
                          </m:num>
                          <m:den>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3</m:t>
                            </m:r>
                          </m:den>
                        </m:f>
                        <m:r>
                          <m:rPr>
                            <m:sty m:val="p"/>
                          </m:rPr>
                          <a:rPr lang="en-US" altLang="zh-CN" sz="3600" b="0" i="0" smtClean="0">
                            <a:latin typeface="Cambria Math" panose="02040503050406030204" pitchFamily="18" charset="0"/>
                            <a:ea typeface="MS Mincho" panose="02020609040205080304" pitchFamily="49" charset="-128"/>
                            <a:cs typeface="Times New Roman" panose="02020603050405020304" pitchFamily="18" charset="0"/>
                          </a:rPr>
                          <m:t>log</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2</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r>
                          <a:rPr lang="zh-CN" altLang="en-US" sz="3600" b="0" i="1" smtClean="0">
                            <a:latin typeface="Cambria Math" panose="02040503050406030204" pitchFamily="18" charset="0"/>
                            <a:ea typeface="MS Mincho" panose="02020609040205080304" pitchFamily="49" charset="-128"/>
                            <a:cs typeface="Times New Roman" panose="02020603050405020304" pitchFamily="18" charset="0"/>
                          </a:rPr>
                          <m:t>𝛿</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sSup>
                          <m:sSupPr>
                            <m:ctrlP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ctrlPr>
                          </m:sSupPr>
                          <m:e>
                            <m:r>
                              <a:rPr lang="zh-CN" altLang="en-US" sz="3600" b="0" i="1" smtClean="0">
                                <a:latin typeface="Cambria Math" panose="02040503050406030204" pitchFamily="18" charset="0"/>
                                <a:ea typeface="MS Mincho" panose="02020609040205080304" pitchFamily="49" charset="-128"/>
                                <a:cs typeface="Times New Roman" panose="02020603050405020304" pitchFamily="18" charset="0"/>
                              </a:rPr>
                              <m:t>𝛾</m:t>
                            </m:r>
                          </m:e>
                          <m:sup>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1</m:t>
                            </m:r>
                          </m:sup>
                        </m:sSup>
                        <m:d>
                          <m:dPr>
                            <m:ctrlP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ctrlPr>
                          </m:dPr>
                          <m:e>
                            <m:f>
                              <m:fPr>
                                <m:ctrlP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ctrlPr>
                              </m:fPr>
                              <m:num>
                                <m:sSup>
                                  <m:sSupPr>
                                    <m:ctrlPr>
                                      <a:rPr lang="en-US" altLang="zh-CN" sz="3600" i="1" smtClean="0">
                                        <a:effectLst/>
                                        <a:latin typeface="Cambria Math" panose="02040503050406030204" pitchFamily="18" charset="0"/>
                                        <a:ea typeface="MS Mincho" panose="02020609040205080304" pitchFamily="49" charset="-128"/>
                                        <a:cs typeface="Times New Roman" panose="02020603050405020304" pitchFamily="18" charset="0"/>
                                      </a:rPr>
                                    </m:ctrlPr>
                                  </m:sSup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𝐹</m:t>
                                    </m:r>
                                  </m:e>
                                  <m:sup>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1</m:t>
                                    </m:r>
                                  </m:sup>
                                </m:sSup>
                                <m:d>
                                  <m:d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𝑝</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𝑛</m:t>
                                        </m:r>
                                      </m:sub>
                                    </m:sSub>
                                  </m:e>
                                </m:d>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𝑣</m:t>
                                    </m:r>
                                  </m:e>
                                  <m:sub>
                                    <m:r>
                                      <a:rPr lang="en-US" altLang="zh-CN" sz="3600" b="0" i="1" smtClean="0">
                                        <a:effectLst/>
                                        <a:latin typeface="Cambria Math" panose="02040503050406030204" pitchFamily="18" charset="0"/>
                                        <a:ea typeface="Cambria Math" panose="02040503050406030204" pitchFamily="18" charset="0"/>
                                        <a:cs typeface="Times New Roman" panose="02020603050405020304" pitchFamily="18" charset="0"/>
                                      </a:rPr>
                                      <m:t>∗</m:t>
                                    </m:r>
                                  </m:sub>
                                </m:sSub>
                              </m:num>
                              <m:den>
                                <m:r>
                                  <a:rPr lang="en-US" altLang="zh-CN" sz="3600" b="0" i="1" smtClean="0">
                                    <a:latin typeface="Cambria Math" panose="02040503050406030204" pitchFamily="18" charset="0"/>
                                    <a:ea typeface="MS Mincho" panose="02020609040205080304" pitchFamily="49" charset="-128"/>
                                    <a:cs typeface="Times New Roman" panose="02020603050405020304" pitchFamily="18" charset="0"/>
                                  </a:rPr>
                                  <m:t>4</m:t>
                                </m:r>
                              </m:den>
                            </m:f>
                          </m:e>
                        </m:d>
                      </m:e>
                    </m:nary>
                  </m:oMath>
                </a14:m>
                <a:r>
                  <a:rPr lang="en-US" altLang="zh-CN" sz="3600" dirty="0">
                    <a:latin typeface="Cambria" panose="02040503050406030204" pitchFamily="18" charset="0"/>
                    <a:ea typeface="MS Mincho" panose="02020609040205080304" pitchFamily="49" charset="-128"/>
                    <a:cs typeface="Times New Roman" panose="02020603050405020304" pitchFamily="18" charset="0"/>
                  </a:rPr>
                  <a:t> and </a:t>
                </a:r>
                <a14:m>
                  <m:oMath xmlns:m="http://schemas.openxmlformats.org/officeDocument/2006/math">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𝑝</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𝑛</m:t>
                        </m:r>
                      </m:sub>
                    </m:s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f>
                      <m:f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fPr>
                      <m:num>
                        <m:func>
                          <m:func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funcPr>
                          <m:fName>
                            <m:sSub>
                              <m:sSub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sSubPr>
                              <m:e>
                                <m:r>
                                  <m:rPr>
                                    <m:sty m:val="p"/>
                                  </m:rPr>
                                  <a:rPr lang="en-US" altLang="zh-CN" sz="3600" b="0" i="0" smtClean="0">
                                    <a:effectLst/>
                                    <a:latin typeface="Cambria Math" panose="02040503050406030204" pitchFamily="18" charset="0"/>
                                    <a:ea typeface="MS Mincho" panose="02020609040205080304" pitchFamily="49" charset="-128"/>
                                    <a:cs typeface="Times New Roman" panose="02020603050405020304" pitchFamily="18" charset="0"/>
                                  </a:rPr>
                                  <m:t>log</m:t>
                                </m:r>
                              </m:e>
                              <m:sub>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sub>
                            </m:sSub>
                          </m:fName>
                          <m:e>
                            <m:d>
                              <m:dPr>
                                <m:ctrlP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ctrlPr>
                              </m:dPr>
                              <m:e>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2</m:t>
                                </m:r>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r>
                                  <a:rPr lang="zh-CN" altLang="en-US" sz="3600" b="0" i="1" smtClean="0">
                                    <a:effectLst/>
                                    <a:latin typeface="Cambria Math" panose="02040503050406030204" pitchFamily="18" charset="0"/>
                                    <a:ea typeface="MS Mincho" panose="02020609040205080304" pitchFamily="49" charset="-128"/>
                                    <a:cs typeface="Times New Roman" panose="02020603050405020304" pitchFamily="18" charset="0"/>
                                  </a:rPr>
                                  <m:t>𝛿</m:t>
                                </m:r>
                              </m:e>
                            </m:d>
                          </m:e>
                        </m:func>
                      </m:num>
                      <m:den>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𝑛</m:t>
                        </m:r>
                      </m:den>
                    </m:f>
                    <m:r>
                      <a:rPr lang="en-US" altLang="zh-CN" sz="3600" b="0" i="1" smtClean="0">
                        <a:effectLst/>
                        <a:latin typeface="Cambria Math" panose="02040503050406030204" pitchFamily="18" charset="0"/>
                        <a:ea typeface="MS Mincho" panose="02020609040205080304" pitchFamily="49" charset="-128"/>
                        <a:cs typeface="Times New Roman" panose="02020603050405020304" pitchFamily="18" charset="0"/>
                      </a:rPr>
                      <m:t>.</m:t>
                    </m:r>
                  </m:oMath>
                </a14:m>
                <a:endParaRPr lang="en-US" altLang="zh-CN" sz="3600"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p:sp>
            <p:nvSpPr>
              <p:cNvPr id="174" name="文本框 3">
                <a:extLst>
                  <a:ext uri="{FF2B5EF4-FFF2-40B4-BE49-F238E27FC236}">
                    <a16:creationId xmlns:a16="http://schemas.microsoft.com/office/drawing/2014/main" id="{CE8931E6-997D-4134-AFC4-BBCA41BE50E9}"/>
                  </a:ext>
                </a:extLst>
              </p:cNvPr>
              <p:cNvSpPr txBox="1">
                <a:spLocks noRot="1" noChangeAspect="1" noMove="1" noResize="1" noEditPoints="1" noAdjustHandles="1" noChangeArrowheads="1" noChangeShapeType="1" noTextEdit="1"/>
              </p:cNvSpPr>
              <p:nvPr/>
            </p:nvSpPr>
            <p:spPr>
              <a:xfrm>
                <a:off x="15474080" y="30926881"/>
                <a:ext cx="13487401" cy="5909054"/>
              </a:xfrm>
              <a:prstGeom prst="rect">
                <a:avLst/>
              </a:prstGeom>
              <a:blipFill>
                <a:blip r:embed="rId10"/>
                <a:stretch>
                  <a:fillRect l="-1356" t="-1856" r="-2847" b="-722"/>
                </a:stretch>
              </a:blipFill>
            </p:spPr>
            <p:txBody>
              <a:bodyPr/>
              <a:lstStyle/>
              <a:p>
                <a:r>
                  <a:rPr lang="zh-CN" altLang="en-US">
                    <a:noFill/>
                  </a:rPr>
                  <a:t> </a:t>
                </a:r>
              </a:p>
            </p:txBody>
          </p:sp>
        </mc:Fallback>
      </mc:AlternateContent>
      <p:pic>
        <p:nvPicPr>
          <p:cNvPr id="183" name="图片 182">
            <a:extLst>
              <a:ext uri="{FF2B5EF4-FFF2-40B4-BE49-F238E27FC236}">
                <a16:creationId xmlns:a16="http://schemas.microsoft.com/office/drawing/2014/main" id="{19792D07-9112-4DC4-999C-A5F8D282CC07}"/>
              </a:ext>
            </a:extLst>
          </p:cNvPr>
          <p:cNvPicPr>
            <a:picLocks noChangeAspect="1"/>
          </p:cNvPicPr>
          <p:nvPr/>
        </p:nvPicPr>
        <p:blipFill>
          <a:blip r:embed="rId11"/>
          <a:stretch>
            <a:fillRect/>
          </a:stretch>
        </p:blipFill>
        <p:spPr>
          <a:xfrm>
            <a:off x="1496184" y="24392731"/>
            <a:ext cx="15916275" cy="4400550"/>
          </a:xfrm>
          <a:prstGeom prst="rect">
            <a:avLst/>
          </a:prstGeom>
        </p:spPr>
      </p:pic>
      <p:sp>
        <p:nvSpPr>
          <p:cNvPr id="185" name="文本框 184">
            <a:extLst>
              <a:ext uri="{FF2B5EF4-FFF2-40B4-BE49-F238E27FC236}">
                <a16:creationId xmlns:a16="http://schemas.microsoft.com/office/drawing/2014/main" id="{B70115C4-FE80-4F1D-BB64-A7DAD02E63FC}"/>
              </a:ext>
            </a:extLst>
          </p:cNvPr>
          <p:cNvSpPr txBox="1"/>
          <p:nvPr/>
        </p:nvSpPr>
        <p:spPr>
          <a:xfrm>
            <a:off x="20070121" y="21785432"/>
            <a:ext cx="8076985" cy="649655"/>
          </a:xfrm>
          <a:prstGeom prst="rect">
            <a:avLst/>
          </a:prstGeom>
        </p:spPr>
        <p:txBody>
          <a:bodyPr vert="horz" wrap="square" lIns="0" tIns="33772" rIns="0" bIns="0" rtlCol="0">
            <a:spAutoFit/>
          </a:bodyPr>
          <a:lstStyle>
            <a:defPPr>
              <a:defRPr lang="zh-CN"/>
            </a:defPPr>
            <a:lvl1pPr marL="19050">
              <a:spcBef>
                <a:spcPts val="190"/>
              </a:spcBef>
              <a:defRPr sz="3515" b="1" spc="8">
                <a:latin typeface="Times New Roman" panose="02020603050405020304"/>
                <a:cs typeface="Times New Roman" panose="02020603050405020304"/>
              </a:defRPr>
            </a:lvl1pPr>
          </a:lstStyle>
          <a:p>
            <a:pPr marL="590550" indent="-571500">
              <a:buFont typeface="Wingdings" panose="05000000000000000000" pitchFamily="2" charset="2"/>
              <a:buChar char="l"/>
            </a:pPr>
            <a:r>
              <a:rPr lang="en-US" altLang="zh-CN" sz="4000" dirty="0"/>
              <a:t>② Leverage the Learned Prior</a:t>
            </a:r>
            <a:endParaRPr lang="zh-CN" altLang="en-US" sz="4000" dirty="0"/>
          </a:p>
        </p:txBody>
      </p:sp>
      <p:sp>
        <p:nvSpPr>
          <p:cNvPr id="186" name="矩形: 圆角 185">
            <a:extLst>
              <a:ext uri="{FF2B5EF4-FFF2-40B4-BE49-F238E27FC236}">
                <a16:creationId xmlns:a16="http://schemas.microsoft.com/office/drawing/2014/main" id="{3484BC7D-8A92-4B6A-966B-0A1B402A214F}"/>
              </a:ext>
            </a:extLst>
          </p:cNvPr>
          <p:cNvSpPr/>
          <p:nvPr/>
        </p:nvSpPr>
        <p:spPr>
          <a:xfrm>
            <a:off x="19384665" y="15773284"/>
            <a:ext cx="10039364" cy="5752202"/>
          </a:xfrm>
          <a:prstGeom prst="roundRect">
            <a:avLst>
              <a:gd name="adj" fmla="val 5967"/>
            </a:avLst>
          </a:prstGeom>
          <a:solidFill>
            <a:srgbClr val="EEF4FB"/>
          </a:solidFill>
          <a:ln>
            <a:solidFill>
              <a:srgbClr val="EEF4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文本框 176">
            <a:extLst>
              <a:ext uri="{FF2B5EF4-FFF2-40B4-BE49-F238E27FC236}">
                <a16:creationId xmlns:a16="http://schemas.microsoft.com/office/drawing/2014/main" id="{EA9AEB73-6A6A-4617-BE9A-D54846CFC7D4}"/>
              </a:ext>
            </a:extLst>
          </p:cNvPr>
          <p:cNvSpPr txBox="1"/>
          <p:nvPr/>
        </p:nvSpPr>
        <p:spPr>
          <a:xfrm>
            <a:off x="19846179" y="16026163"/>
            <a:ext cx="9745314" cy="5081637"/>
          </a:xfrm>
          <a:prstGeom prst="rect">
            <a:avLst/>
          </a:prstGeom>
        </p:spPr>
        <p:txBody>
          <a:bodyPr vert="horz" wrap="square" lIns="0" tIns="33772" rIns="0" bIns="0" rtlCol="0">
            <a:spAutoFit/>
          </a:bodyPr>
          <a:lstStyle>
            <a:defPPr>
              <a:defRPr lang="zh-CN"/>
            </a:defPPr>
            <a:lvl1pPr marL="19050">
              <a:spcBef>
                <a:spcPts val="190"/>
              </a:spcBef>
              <a:defRPr sz="3515" b="1" spc="8">
                <a:latin typeface="Times New Roman" panose="02020603050405020304"/>
                <a:cs typeface="Times New Roman" panose="02020603050405020304"/>
              </a:defRPr>
            </a:lvl1pPr>
          </a:lstStyle>
          <a:p>
            <a:pPr marL="590550" indent="-571500">
              <a:buFont typeface="Wingdings" panose="05000000000000000000" pitchFamily="2" charset="2"/>
              <a:buChar char="l"/>
            </a:pPr>
            <a:r>
              <a:rPr lang="en-US" altLang="zh-CN" sz="4000" dirty="0"/>
              <a:t>① First-Phase Search</a:t>
            </a:r>
          </a:p>
          <a:p>
            <a:pPr marL="1259840" lvl="1" indent="-571500">
              <a:buFont typeface="Wingdings" panose="05000000000000000000" pitchFamily="2" charset="2"/>
              <a:buChar char="ü"/>
            </a:pPr>
            <a:r>
              <a:rPr lang="en-US" altLang="zh-CN" sz="3600" b="0" dirty="0">
                <a:latin typeface="Times New Roman" panose="02020603050405020304" pitchFamily="18" charset="0"/>
                <a:cs typeface="Times New Roman" panose="02020603050405020304" pitchFamily="18" charset="0"/>
              </a:rPr>
              <a:t>Sample configurations from LF landscape</a:t>
            </a:r>
          </a:p>
          <a:p>
            <a:pPr marL="1259840" lvl="1" indent="-571500">
              <a:buFont typeface="Wingdings" panose="05000000000000000000" pitchFamily="2" charset="2"/>
              <a:buChar char="ü"/>
            </a:pPr>
            <a:r>
              <a:rPr lang="en-US" altLang="zh-CN" sz="3600" b="0" dirty="0">
                <a:latin typeface="Times New Roman" panose="02020603050405020304" pitchFamily="18" charset="0"/>
                <a:cs typeface="Times New Roman" panose="02020603050405020304" pitchFamily="18" charset="0"/>
              </a:rPr>
              <a:t>Classify into </a:t>
            </a:r>
            <a:r>
              <a:rPr lang="en-US" altLang="zh-CN" sz="3600" b="0" dirty="0" err="1">
                <a:latin typeface="Times New Roman" panose="02020603050405020304" pitchFamily="18" charset="0"/>
                <a:cs typeface="Times New Roman" panose="02020603050405020304" pitchFamily="18" charset="0"/>
              </a:rPr>
              <a:t>S</a:t>
            </a:r>
            <a:r>
              <a:rPr lang="en-US" altLang="zh-CN" sz="3600" b="0" baseline="-25000" dirty="0" err="1">
                <a:latin typeface="Times New Roman" panose="02020603050405020304" pitchFamily="18" charset="0"/>
                <a:cs typeface="Times New Roman" panose="02020603050405020304" pitchFamily="18" charset="0"/>
              </a:rPr>
              <a:t>pro</a:t>
            </a:r>
            <a:r>
              <a:rPr lang="en-US" altLang="zh-CN" sz="3600" b="0" dirty="0">
                <a:latin typeface="Times New Roman" panose="02020603050405020304" pitchFamily="18" charset="0"/>
                <a:cs typeface="Times New Roman" panose="02020603050405020304" pitchFamily="18" charset="0"/>
              </a:rPr>
              <a:t> / S</a:t>
            </a:r>
            <a:r>
              <a:rPr lang="en-US" altLang="zh-CN" sz="3600" b="0" baseline="-25000" dirty="0">
                <a:latin typeface="Times New Roman" panose="02020603050405020304" pitchFamily="18" charset="0"/>
                <a:cs typeface="Times New Roman" panose="02020603050405020304" pitchFamily="18" charset="0"/>
              </a:rPr>
              <a:t>inf</a:t>
            </a:r>
            <a:r>
              <a:rPr lang="en-US" altLang="zh-CN" sz="3600" b="0" dirty="0">
                <a:latin typeface="Times New Roman" panose="02020603050405020304" pitchFamily="18" charset="0"/>
                <a:cs typeface="Times New Roman" panose="02020603050405020304" pitchFamily="18" charset="0"/>
              </a:rPr>
              <a:t> using TPE</a:t>
            </a:r>
          </a:p>
          <a:p>
            <a:pPr marL="1259840" lvl="1" indent="-571500">
              <a:buFont typeface="Wingdings" panose="05000000000000000000" pitchFamily="2" charset="2"/>
              <a:buChar char="ü"/>
            </a:pPr>
            <a:r>
              <a:rPr lang="en-US" altLang="zh-CN" sz="3600" b="0" dirty="0">
                <a:latin typeface="Times New Roman" panose="02020603050405020304" pitchFamily="18" charset="0"/>
                <a:cs typeface="Times New Roman" panose="02020603050405020304" pitchFamily="18" charset="0"/>
              </a:rPr>
              <a:t>Estimate PDFs (</a:t>
            </a:r>
            <a:r>
              <a:rPr lang="en-US" altLang="zh-CN" sz="3600" b="0" dirty="0" err="1">
                <a:latin typeface="Times New Roman" panose="02020603050405020304" pitchFamily="18" charset="0"/>
                <a:cs typeface="Times New Roman" panose="02020603050405020304" pitchFamily="18" charset="0"/>
              </a:rPr>
              <a:t>φpro</a:t>
            </a:r>
            <a:r>
              <a:rPr lang="en-US" altLang="zh-CN" sz="3600" b="0" dirty="0">
                <a:latin typeface="Times New Roman" panose="02020603050405020304" pitchFamily="18" charset="0"/>
                <a:cs typeface="Times New Roman" panose="02020603050405020304" pitchFamily="18" charset="0"/>
              </a:rPr>
              <a:t>, </a:t>
            </a:r>
            <a:r>
              <a:rPr lang="en-US" altLang="zh-CN" sz="3600" b="0" dirty="0" err="1">
                <a:latin typeface="Times New Roman" panose="02020603050405020304" pitchFamily="18" charset="0"/>
                <a:cs typeface="Times New Roman" panose="02020603050405020304" pitchFamily="18" charset="0"/>
              </a:rPr>
              <a:t>φinf</a:t>
            </a:r>
            <a:r>
              <a:rPr lang="en-US" altLang="zh-CN" sz="3600" b="0" dirty="0">
                <a:latin typeface="Times New Roman" panose="02020603050405020304" pitchFamily="18" charset="0"/>
                <a:cs typeface="Times New Roman" panose="02020603050405020304" pitchFamily="18" charset="0"/>
              </a:rPr>
              <a:t>) with KDE</a:t>
            </a:r>
          </a:p>
          <a:p>
            <a:pPr marL="1259840" lvl="1" indent="-571500">
              <a:buFont typeface="Wingdings" panose="05000000000000000000" pitchFamily="2" charset="2"/>
              <a:buChar char="ü"/>
            </a:pPr>
            <a:r>
              <a:rPr lang="en-US" altLang="zh-CN" sz="3600" b="0" dirty="0">
                <a:latin typeface="Times New Roman" panose="02020603050405020304" pitchFamily="18" charset="0"/>
                <a:cs typeface="Times New Roman" panose="02020603050405020304" pitchFamily="18" charset="0"/>
              </a:rPr>
              <a:t>Assess stability via OVL metric</a:t>
            </a:r>
          </a:p>
          <a:p>
            <a:pPr marL="1259840" lvl="1" indent="-571500">
              <a:buFont typeface="Wingdings" panose="05000000000000000000" pitchFamily="2" charset="2"/>
              <a:buChar char="ü"/>
            </a:pPr>
            <a:endParaRPr lang="en-US" altLang="zh-CN" sz="3600" dirty="0">
              <a:latin typeface="Times New Roman" panose="02020603050405020304" pitchFamily="18" charset="0"/>
              <a:cs typeface="Times New Roman" panose="02020603050405020304" pitchFamily="18" charset="0"/>
            </a:endParaRPr>
          </a:p>
          <a:p>
            <a:pPr marL="1259840" lvl="1" indent="-571500">
              <a:buFont typeface="Wingdings" panose="05000000000000000000" pitchFamily="2" charset="2"/>
              <a:buChar char="ü"/>
            </a:pPr>
            <a:endParaRPr lang="en-US" altLang="zh-CN" sz="3600" dirty="0">
              <a:latin typeface="Times New Roman" panose="02020603050405020304" pitchFamily="18" charset="0"/>
              <a:cs typeface="Times New Roman" panose="02020603050405020304" pitchFamily="18" charset="0"/>
            </a:endParaRPr>
          </a:p>
          <a:p>
            <a:pPr marL="1259840" lvl="1" indent="-571500">
              <a:buFont typeface="Wingdings" panose="05000000000000000000" pitchFamily="2" charset="2"/>
              <a:buChar char="ü"/>
            </a:pPr>
            <a:endParaRPr lang="en-US" altLang="zh-CN" sz="3600" dirty="0">
              <a:latin typeface="Times New Roman" panose="02020603050405020304" pitchFamily="18" charset="0"/>
              <a:cs typeface="Times New Roman" panose="02020603050405020304" pitchFamily="18" charset="0"/>
            </a:endParaRPr>
          </a:p>
          <a:p>
            <a:pPr marL="1259840" lvl="1" indent="-571500">
              <a:buFont typeface="Wingdings" panose="05000000000000000000" pitchFamily="2" charset="2"/>
              <a:buChar char="ü"/>
            </a:pPr>
            <a:r>
              <a:rPr lang="en-US" altLang="zh-CN" sz="3600" b="0" dirty="0">
                <a:latin typeface="Times New Roman" panose="02020603050405020304" pitchFamily="18" charset="0"/>
                <a:cs typeface="Times New Roman" panose="02020603050405020304" pitchFamily="18" charset="0"/>
              </a:rPr>
              <a:t>Determine if Phase 1 search ends</a:t>
            </a:r>
            <a:endParaRPr lang="zh-CN" altLang="en-US" sz="3600" b="0" dirty="0">
              <a:latin typeface="Times New Roman" panose="02020603050405020304" pitchFamily="18" charset="0"/>
              <a:cs typeface="Times New Roman" panose="02020603050405020304" pitchFamily="18" charset="0"/>
            </a:endParaRPr>
          </a:p>
        </p:txBody>
      </p:sp>
      <p:pic>
        <p:nvPicPr>
          <p:cNvPr id="190" name="图片 189">
            <a:extLst>
              <a:ext uri="{FF2B5EF4-FFF2-40B4-BE49-F238E27FC236}">
                <a16:creationId xmlns:a16="http://schemas.microsoft.com/office/drawing/2014/main" id="{97160B01-A3B0-44DD-96D1-7F60F59A7AE0}"/>
              </a:ext>
            </a:extLst>
          </p:cNvPr>
          <p:cNvPicPr>
            <a:picLocks noChangeAspect="1"/>
          </p:cNvPicPr>
          <p:nvPr/>
        </p:nvPicPr>
        <p:blipFill>
          <a:blip r:embed="rId12"/>
          <a:stretch>
            <a:fillRect/>
          </a:stretch>
        </p:blipFill>
        <p:spPr>
          <a:xfrm>
            <a:off x="20928805" y="19246027"/>
            <a:ext cx="6429375" cy="904875"/>
          </a:xfrm>
          <a:prstGeom prst="rect">
            <a:avLst/>
          </a:prstGeom>
        </p:spPr>
      </p:pic>
      <p:sp>
        <p:nvSpPr>
          <p:cNvPr id="192" name="文本框 191">
            <a:extLst>
              <a:ext uri="{FF2B5EF4-FFF2-40B4-BE49-F238E27FC236}">
                <a16:creationId xmlns:a16="http://schemas.microsoft.com/office/drawing/2014/main" id="{BA0B434E-812B-4C90-826E-350DF540656E}"/>
              </a:ext>
            </a:extLst>
          </p:cNvPr>
          <p:cNvSpPr txBox="1"/>
          <p:nvPr/>
        </p:nvSpPr>
        <p:spPr>
          <a:xfrm>
            <a:off x="473312" y="23817150"/>
            <a:ext cx="20455493" cy="707886"/>
          </a:xfrm>
          <a:prstGeom prst="rect">
            <a:avLst/>
          </a:prstGeom>
          <a:noFill/>
        </p:spPr>
        <p:txBody>
          <a:bodyPr wrap="square">
            <a:spAutoFit/>
          </a:bodyPr>
          <a:lstStyle/>
          <a:p>
            <a:pPr marL="571500" indent="-571500">
              <a:buFont typeface="Wingdings" panose="05000000000000000000" pitchFamily="2" charset="2"/>
              <a:buChar char="l"/>
            </a:pPr>
            <a:r>
              <a:rPr lang="en-US" altLang="zh-CN" sz="4000" b="1" spc="8" dirty="0">
                <a:latin typeface="Times New Roman" panose="02020603050405020304"/>
                <a:cs typeface="Times New Roman" panose="02020603050405020304"/>
              </a:rPr>
              <a:t>③ Integration and Comparison with Current HPO Methods</a:t>
            </a:r>
            <a:endParaRPr lang="zh-CN" altLang="en-US" sz="4000" b="1" spc="8" dirty="0">
              <a:latin typeface="Times New Roman" panose="02020603050405020304"/>
              <a:cs typeface="Times New Roman" panose="02020603050405020304"/>
            </a:endParaRPr>
          </a:p>
        </p:txBody>
      </p:sp>
      <p:sp>
        <p:nvSpPr>
          <p:cNvPr id="195" name="文本框 194">
            <a:extLst>
              <a:ext uri="{FF2B5EF4-FFF2-40B4-BE49-F238E27FC236}">
                <a16:creationId xmlns:a16="http://schemas.microsoft.com/office/drawing/2014/main" id="{8C12FE43-2496-45F2-A538-5A8B9FDFFFB5}"/>
              </a:ext>
            </a:extLst>
          </p:cNvPr>
          <p:cNvSpPr txBox="1"/>
          <p:nvPr/>
        </p:nvSpPr>
        <p:spPr>
          <a:xfrm>
            <a:off x="711986" y="38355154"/>
            <a:ext cx="5043749" cy="711210"/>
          </a:xfrm>
          <a:prstGeom prst="rect">
            <a:avLst/>
          </a:prstGeom>
        </p:spPr>
        <p:txBody>
          <a:bodyPr vert="horz" wrap="square" lIns="0" tIns="33772" rIns="0" bIns="0" rtlCol="0">
            <a:spAutoFit/>
          </a:bodyPr>
          <a:lstStyle>
            <a:defPPr>
              <a:defRPr lang="zh-CN"/>
            </a:defPPr>
            <a:lvl1pPr marL="590550" indent="-571500">
              <a:spcBef>
                <a:spcPts val="190"/>
              </a:spcBef>
              <a:buFont typeface="Wingdings" panose="05000000000000000000" pitchFamily="2" charset="2"/>
              <a:buChar char="l"/>
              <a:defRPr sz="3515" b="1" spc="8">
                <a:latin typeface="Times New Roman" panose="02020603050405020304"/>
                <a:cs typeface="Times New Roman" panose="02020603050405020304"/>
              </a:defRPr>
            </a:lvl1pPr>
          </a:lstStyle>
          <a:p>
            <a:r>
              <a:rPr lang="en-US" altLang="zh-CN" sz="4400" dirty="0"/>
              <a:t>56</a:t>
            </a:r>
            <a:r>
              <a:rPr lang="en-US" altLang="zh-CN" sz="4000" dirty="0"/>
              <a:t> HPO problems</a:t>
            </a:r>
            <a:endParaRPr lang="zh-CN" altLang="en-US" sz="4000" dirty="0"/>
          </a:p>
        </p:txBody>
      </p:sp>
      <p:sp>
        <p:nvSpPr>
          <p:cNvPr id="33" name="文本框 32">
            <a:extLst>
              <a:ext uri="{FF2B5EF4-FFF2-40B4-BE49-F238E27FC236}">
                <a16:creationId xmlns:a16="http://schemas.microsoft.com/office/drawing/2014/main" id="{0102EFDC-20F4-44E8-996B-06C9B46C1384}"/>
              </a:ext>
            </a:extLst>
          </p:cNvPr>
          <p:cNvSpPr txBox="1"/>
          <p:nvPr/>
        </p:nvSpPr>
        <p:spPr>
          <a:xfrm>
            <a:off x="775222" y="39156481"/>
            <a:ext cx="10217380" cy="3477875"/>
          </a:xfrm>
          <a:prstGeom prst="rect">
            <a:avLst/>
          </a:prstGeom>
          <a:noFill/>
        </p:spPr>
        <p:txBody>
          <a:bodyPr wrap="square">
            <a:spAutoFit/>
          </a:bodyPr>
          <a:lstStyle/>
          <a:p>
            <a:pPr>
              <a:spcAft>
                <a:spcPts val="600"/>
              </a:spcAft>
            </a:pP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Tabular (</a:t>
            </a:r>
            <a:r>
              <a:rPr lang="en-US" altLang="zh-CN" sz="4000" b="1" dirty="0">
                <a:latin typeface="Times New Roman" panose="02020603050405020304" pitchFamily="18" charset="0"/>
                <a:cs typeface="Times New Roman" panose="02020603050405020304" pitchFamily="18" charset="0"/>
              </a:rPr>
              <a:t>24</a:t>
            </a:r>
            <a:r>
              <a:rPr lang="en-US" altLang="zh-CN" sz="3600" dirty="0">
                <a:latin typeface="Times New Roman" panose="02020603050405020304" pitchFamily="18" charset="0"/>
                <a:cs typeface="Times New Roman" panose="02020603050405020304" pitchFamily="18" charset="0"/>
              </a:rPr>
              <a:t>): </a:t>
            </a:r>
            <a:r>
              <a:rPr lang="en-US" altLang="zh-CN" sz="3600" dirty="0" err="1">
                <a:latin typeface="Times New Roman" panose="02020603050405020304" pitchFamily="18" charset="0"/>
                <a:cs typeface="Times New Roman" panose="02020603050405020304" pitchFamily="18" charset="0"/>
              </a:rPr>
              <a:t>FCNet</a:t>
            </a:r>
            <a:r>
              <a:rPr lang="en-US" altLang="zh-CN" sz="3600" dirty="0">
                <a:latin typeface="Times New Roman" panose="02020603050405020304" pitchFamily="18" charset="0"/>
                <a:cs typeface="Times New Roman" panose="02020603050405020304" pitchFamily="18" charset="0"/>
              </a:rPr>
              <a:t>(4×6D) + NAS(4) + ML(16)</a:t>
            </a:r>
          </a:p>
          <a:p>
            <a:pPr>
              <a:spcAft>
                <a:spcPts val="600"/>
              </a:spcAft>
            </a:pP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Surrogate (</a:t>
            </a:r>
            <a:r>
              <a:rPr lang="en-US" altLang="zh-CN" sz="4000" b="1" dirty="0">
                <a:latin typeface="Times New Roman" panose="02020603050405020304" pitchFamily="18" charset="0"/>
                <a:cs typeface="Times New Roman" panose="02020603050405020304" pitchFamily="18" charset="0"/>
              </a:rPr>
              <a:t>7</a:t>
            </a:r>
            <a:r>
              <a:rPr lang="en-US" altLang="zh-CN" sz="3600" dirty="0">
                <a:latin typeface="Times New Roman" panose="02020603050405020304" pitchFamily="18" charset="0"/>
                <a:cs typeface="Times New Roman" panose="02020603050405020304" pitchFamily="18" charset="0"/>
              </a:rPr>
              <a:t>): PD1(4×4D) + JAHS(3×14D)</a:t>
            </a:r>
          </a:p>
          <a:p>
            <a:pPr>
              <a:spcAft>
                <a:spcPts val="600"/>
              </a:spcAft>
            </a:pP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DNN (</a:t>
            </a:r>
            <a:r>
              <a:rPr lang="en-US" altLang="zh-CN" sz="4000" b="1" dirty="0">
                <a:latin typeface="Times New Roman" panose="02020603050405020304" pitchFamily="18" charset="0"/>
                <a:cs typeface="Times New Roman" panose="02020603050405020304" pitchFamily="18" charset="0"/>
              </a:rPr>
              <a:t>3</a:t>
            </a:r>
            <a:r>
              <a:rPr lang="en-US" altLang="zh-CN" sz="3600" dirty="0">
                <a:latin typeface="Times New Roman" panose="02020603050405020304" pitchFamily="18" charset="0"/>
                <a:cs typeface="Times New Roman" panose="02020603050405020304" pitchFamily="18" charset="0"/>
              </a:rPr>
              <a:t>): </a:t>
            </a:r>
            <a:r>
              <a:rPr lang="en-US" altLang="zh-CN" sz="3600" dirty="0" err="1">
                <a:latin typeface="Times New Roman" panose="02020603050405020304" pitchFamily="18" charset="0"/>
                <a:cs typeface="Times New Roman" panose="02020603050405020304" pitchFamily="18" charset="0"/>
              </a:rPr>
              <a:t>LeNet</a:t>
            </a:r>
            <a:r>
              <a:rPr lang="en-US" altLang="zh-CN" sz="3600" dirty="0">
                <a:latin typeface="Times New Roman" panose="02020603050405020304" pitchFamily="18" charset="0"/>
                <a:cs typeface="Times New Roman" panose="02020603050405020304" pitchFamily="18" charset="0"/>
              </a:rPr>
              <a:t> + ResNet×2</a:t>
            </a:r>
          </a:p>
          <a:p>
            <a:pPr>
              <a:spcAft>
                <a:spcPts val="600"/>
              </a:spcAft>
            </a:pPr>
            <a:r>
              <a:rPr lang="en-US" altLang="zh-CN" sz="3600" dirty="0">
                <a:latin typeface="Times New Roman" panose="02020603050405020304" pitchFamily="18" charset="0"/>
                <a:cs typeface="Times New Roman" panose="02020603050405020304" pitchFamily="18" charset="0"/>
              </a:rPr>
              <a:t>⚙️ Synthetic (</a:t>
            </a:r>
            <a:r>
              <a:rPr lang="en-US" altLang="zh-CN" sz="4000" b="1" dirty="0">
                <a:latin typeface="Times New Roman" panose="02020603050405020304" pitchFamily="18" charset="0"/>
                <a:cs typeface="Times New Roman" panose="02020603050405020304" pitchFamily="18" charset="0"/>
              </a:rPr>
              <a:t>2</a:t>
            </a:r>
            <a:r>
              <a:rPr lang="en-US" altLang="zh-CN" sz="3600" dirty="0">
                <a:latin typeface="Times New Roman" panose="02020603050405020304" pitchFamily="18" charset="0"/>
                <a:cs typeface="Times New Roman" panose="02020603050405020304" pitchFamily="18" charset="0"/>
              </a:rPr>
              <a:t>): Hartmann(3D/6D)</a:t>
            </a:r>
          </a:p>
          <a:p>
            <a:pPr>
              <a:spcAft>
                <a:spcPts val="600"/>
              </a:spcAft>
            </a:pP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Fine-tune (</a:t>
            </a:r>
            <a:r>
              <a:rPr lang="en-US" altLang="zh-CN" sz="4000" b="1" dirty="0">
                <a:latin typeface="Times New Roman" panose="02020603050405020304" pitchFamily="18" charset="0"/>
                <a:cs typeface="Times New Roman" panose="02020603050405020304" pitchFamily="18" charset="0"/>
              </a:rPr>
              <a:t>20</a:t>
            </a:r>
            <a:r>
              <a:rPr lang="en-US" altLang="zh-CN" sz="3600" dirty="0">
                <a:latin typeface="Times New Roman" panose="02020603050405020304" pitchFamily="18" charset="0"/>
                <a:cs typeface="Times New Roman" panose="02020603050405020304" pitchFamily="18" charset="0"/>
              </a:rPr>
              <a:t>): 20×69D</a:t>
            </a:r>
            <a:endParaRPr lang="zh-CN" altLang="en-US" sz="3600"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0125DD6B-BC0F-47B8-A3FF-66C1E3A60D20}"/>
              </a:ext>
            </a:extLst>
          </p:cNvPr>
          <p:cNvSpPr txBox="1"/>
          <p:nvPr/>
        </p:nvSpPr>
        <p:spPr>
          <a:xfrm>
            <a:off x="665607" y="6976972"/>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Abstract</a:t>
            </a:r>
          </a:p>
        </p:txBody>
      </p:sp>
      <p:sp>
        <p:nvSpPr>
          <p:cNvPr id="46" name="文本框 45">
            <a:extLst>
              <a:ext uri="{FF2B5EF4-FFF2-40B4-BE49-F238E27FC236}">
                <a16:creationId xmlns:a16="http://schemas.microsoft.com/office/drawing/2014/main" id="{09B3CF50-2BA8-4202-B649-09DD832D28B8}"/>
              </a:ext>
            </a:extLst>
          </p:cNvPr>
          <p:cNvSpPr txBox="1"/>
          <p:nvPr/>
        </p:nvSpPr>
        <p:spPr>
          <a:xfrm>
            <a:off x="629451" y="14351698"/>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Proposed Method</a:t>
            </a:r>
          </a:p>
        </p:txBody>
      </p:sp>
      <p:sp>
        <p:nvSpPr>
          <p:cNvPr id="47" name="文本框 46">
            <a:extLst>
              <a:ext uri="{FF2B5EF4-FFF2-40B4-BE49-F238E27FC236}">
                <a16:creationId xmlns:a16="http://schemas.microsoft.com/office/drawing/2014/main" id="{A73A150B-EAAF-49A3-9B8F-7361834E3010}"/>
              </a:ext>
            </a:extLst>
          </p:cNvPr>
          <p:cNvSpPr txBox="1"/>
          <p:nvPr/>
        </p:nvSpPr>
        <p:spPr>
          <a:xfrm>
            <a:off x="629451" y="28915100"/>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Theoretical Analysis </a:t>
            </a:r>
          </a:p>
        </p:txBody>
      </p:sp>
      <p:sp>
        <p:nvSpPr>
          <p:cNvPr id="48" name="文本框 47">
            <a:extLst>
              <a:ext uri="{FF2B5EF4-FFF2-40B4-BE49-F238E27FC236}">
                <a16:creationId xmlns:a16="http://schemas.microsoft.com/office/drawing/2014/main" id="{243CE32C-697D-49B7-84EF-EA649C7A7916}"/>
              </a:ext>
            </a:extLst>
          </p:cNvPr>
          <p:cNvSpPr txBox="1"/>
          <p:nvPr/>
        </p:nvSpPr>
        <p:spPr>
          <a:xfrm>
            <a:off x="629451" y="6976972"/>
            <a:ext cx="28944000" cy="1202602"/>
          </a:xfrm>
          <a:prstGeom prst="rect">
            <a:avLst/>
          </a:prstGeom>
          <a:solidFill>
            <a:srgbClr val="E5E6FF"/>
          </a:solidFill>
          <a:effectLst>
            <a:outerShdw blurRad="228600" dist="38100" dir="5400000" algn="t" rotWithShape="0">
              <a:prstClr val="black">
                <a:alpha val="40000"/>
              </a:prstClr>
            </a:outerShdw>
          </a:effectLst>
        </p:spPr>
        <p:txBody>
          <a:bodyPr wrap="square" rtlCol="0" anchor="ctr">
            <a:noAutofit/>
          </a:bodyPr>
          <a:lstStyle/>
          <a:p>
            <a:pPr marL="342900" indent="-342900" fontAlgn="auto">
              <a:lnSpc>
                <a:spcPct val="130000"/>
              </a:lnSpc>
              <a:buFont typeface="Wingdings" panose="05000000000000000000" pitchFamily="2" charset="2"/>
              <a:buChar char="v"/>
            </a:pPr>
            <a:r>
              <a:rPr lang="en-US" altLang="zh-CN" sz="6000" b="1" dirty="0">
                <a:latin typeface="Times New Roman" panose="02020603050405020304" pitchFamily="18" charset="0"/>
                <a:cs typeface="Times New Roman" panose="02020603050405020304" pitchFamily="18" charset="0"/>
              </a:rPr>
              <a:t>Abstract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TotalTime>
  <Words>680</Words>
  <Application>Microsoft Office PowerPoint</Application>
  <PresentationFormat>自定义</PresentationFormat>
  <Paragraphs>44</Paragraphs>
  <Slides>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等线</vt:lpstr>
      <vt:lpstr>Calibri</vt:lpstr>
      <vt:lpstr>Cambria</vt:lpstr>
      <vt:lpstr>Cambria Math</vt:lpstr>
      <vt:lpstr>Courier New</vt:lpstr>
      <vt:lpstr>Georgia</vt:lpstr>
      <vt:lpstr>Times New Roman</vt:lpstr>
      <vt:lpstr>Wingdings</vt:lpstr>
      <vt:lpstr>Office Theme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Enabling flexible job scheduling for</dc:title>
  <dc:creator>hp</dc:creator>
  <cp:lastModifiedBy>li</cp:lastModifiedBy>
  <cp:revision>31</cp:revision>
  <dcterms:created xsi:type="dcterms:W3CDTF">2022-08-06T07:35:00Z</dcterms:created>
  <dcterms:modified xsi:type="dcterms:W3CDTF">2025-12-18T01:17:59Z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2019-11-27T08:00:00Z</vt:filetime>
  </property>
  <property fmtid="{D5CDD505-2E9C-101B-9397-08002B2CF9AE}" pid="3" name="Creator">
    <vt:lpwstr>TeX</vt:lpwstr>
  </property>
  <property fmtid="{D5CDD505-2E9C-101B-9397-08002B2CF9AE}" pid="4" name="LastSaved">
    <vt:filetime>2022-08-06T08:00:00Z</vt:filetime>
  </property>
  <property fmtid="{D5CDD505-2E9C-101B-9397-08002B2CF9AE}" pid="5" name="ICV">
    <vt:lpwstr>120E8BAFB267477EA9989A5A9718F5D2</vt:lpwstr>
  </property>
  <property fmtid="{D5CDD505-2E9C-101B-9397-08002B2CF9AE}" pid="6" name="KSOProductBuildVer">
    <vt:lpwstr>2052-11.1.0.11579</vt:lpwstr>
  </property>
</Properties>
</file>